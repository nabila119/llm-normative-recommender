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c6549d75d94db0" /><Relationship Type="http://schemas.openxmlformats.org/officeDocument/2006/relationships/extended-properties" Target="/docProps/app.xml" Id="R981430895d304a31" /><Relationship Type="http://schemas.openxmlformats.org/officeDocument/2006/relationships/officeDocument" Target="/ppt/presentation.xml" Id="Rcd28dfbe534041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71b2caa31f4686"/>
  </p:sldMasterIdLst>
  <p:notesMasterIdLst>
    <p:notesMasterId xmlns:r="http://schemas.openxmlformats.org/officeDocument/2006/relationships" r:id="R20ff8354fe3f479f"/>
  </p:notesMasterIdLst>
  <p:sldIdLst>
    <p:sldId xmlns:r="http://schemas.openxmlformats.org/officeDocument/2006/relationships" id="256" r:id="R011b293e8cc044ae"/>
    <p:sldId xmlns:r="http://schemas.openxmlformats.org/officeDocument/2006/relationships" id="257" r:id="Rb835f70e95ba4294"/>
    <p:sldId xmlns:r="http://schemas.openxmlformats.org/officeDocument/2006/relationships" id="258" r:id="R457b4cda41124a91"/>
    <p:sldId xmlns:r="http://schemas.openxmlformats.org/officeDocument/2006/relationships" id="259" r:id="R1fffa7b02a744160"/>
    <p:sldId xmlns:r="http://schemas.openxmlformats.org/officeDocument/2006/relationships" id="260" r:id="R338c4fe12a5e480e"/>
    <p:sldId xmlns:r="http://schemas.openxmlformats.org/officeDocument/2006/relationships" id="261" r:id="R5966dffe411c4de4"/>
    <p:sldId xmlns:r="http://schemas.openxmlformats.org/officeDocument/2006/relationships" id="262" r:id="R30449f69ffa84c9c"/>
    <p:sldId xmlns:r="http://schemas.openxmlformats.org/officeDocument/2006/relationships" id="263" r:id="R6d0abd9370b648ef"/>
    <p:sldId xmlns:r="http://schemas.openxmlformats.org/officeDocument/2006/relationships" id="264" r:id="R08145e8ab61540bc"/>
    <p:sldId xmlns:r="http://schemas.openxmlformats.org/officeDocument/2006/relationships" id="265" r:id="R6ebcccdaffe740ae"/>
  </p:sldIdLst>
  <p:sldSz cx="15240000" cy="8572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48f4bf0ed94ebe" /><Relationship Type="http://schemas.openxmlformats.org/officeDocument/2006/relationships/slideMaster" Target="/ppt/slideMasters/slideMaster1.xml" Id="Rf071b2caa31f4686" /><Relationship Type="http://schemas.openxmlformats.org/officeDocument/2006/relationships/notesMaster" Target="/ppt/notesMasters/notesMaster1.xml" Id="R20ff8354fe3f479f" /><Relationship Type="http://schemas.openxmlformats.org/officeDocument/2006/relationships/presProps" Target="/ppt/presProps.xml" Id="Rdf48976985634146" /><Relationship Type="http://schemas.openxmlformats.org/officeDocument/2006/relationships/tableStyles" Target="/ppt/tableStyles.xml" Id="Rbf8cd813e3954c27" /><Relationship Type="http://schemas.openxmlformats.org/officeDocument/2006/relationships/slide" Target="/ppt/slides/slide1.xml" Id="R011b293e8cc044ae" /><Relationship Type="http://schemas.openxmlformats.org/officeDocument/2006/relationships/slide" Target="/ppt/slides/slide2.xml" Id="Rb835f70e95ba4294" /><Relationship Type="http://schemas.openxmlformats.org/officeDocument/2006/relationships/slide" Target="/ppt/slides/slide3.xml" Id="R457b4cda41124a91" /><Relationship Type="http://schemas.openxmlformats.org/officeDocument/2006/relationships/slide" Target="/ppt/slides/slide4.xml" Id="R1fffa7b02a744160" /><Relationship Type="http://schemas.openxmlformats.org/officeDocument/2006/relationships/slide" Target="/ppt/slides/slide5.xml" Id="R338c4fe12a5e480e" /><Relationship Type="http://schemas.openxmlformats.org/officeDocument/2006/relationships/slide" Target="/ppt/slides/slide6.xml" Id="R5966dffe411c4de4" /><Relationship Type="http://schemas.openxmlformats.org/officeDocument/2006/relationships/slide" Target="/ppt/slides/slide7.xml" Id="R30449f69ffa84c9c" /><Relationship Type="http://schemas.openxmlformats.org/officeDocument/2006/relationships/slide" Target="/ppt/slides/slide8.xml" Id="R6d0abd9370b648ef" /><Relationship Type="http://schemas.openxmlformats.org/officeDocument/2006/relationships/slide" Target="/ppt/slides/slide9.xml" Id="R08145e8ab61540bc" /><Relationship Type="http://schemas.openxmlformats.org/officeDocument/2006/relationships/slide" Target="/ppt/slides/slide10.xml" Id="R6ebcccdaffe740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22d51668d84e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hesis Teal">
      <a:dk1>
        <a:srgbClr val="000000"/>
      </a:dk1>
      <a:lt1>
        <a:srgbClr val="FFFFFF"/>
      </a:lt1>
      <a:dk2>
        <a:srgbClr val="102A43"/>
      </a:dk2>
      <a:lt2>
        <a:srgbClr val="D9E2EC"/>
      </a:lt2>
      <a:accent1>
        <a:srgbClr val="0F766E"/>
      </a:accent1>
      <a:accent2>
        <a:srgbClr val="B45309"/>
      </a:accent2>
      <a:accent3>
        <a:srgbClr val="2563EB"/>
      </a:accent3>
      <a:accent4>
        <a:srgbClr val="15803D"/>
      </a:accent4>
      <a:accent5>
        <a:srgbClr val="B91C1C"/>
      </a:accent5>
      <a:accent6>
        <a:srgbClr val="486581"/>
      </a:accent6>
      <a:hlink>
        <a:srgbClr val="2563EB"/>
      </a:hlink>
      <a:folHlink>
        <a:srgbClr val="0F76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hesis Te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36819e47ff4d26" /><Relationship Type="http://schemas.openxmlformats.org/officeDocument/2006/relationships/notesMaster" Target="/ppt/notesMasters/notesMaster1.xml" Id="Rae13e38680e746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4fb67762164ac7" /><Relationship Type="http://schemas.openxmlformats.org/officeDocument/2006/relationships/notesMaster" Target="/ppt/notesMasters/notesMaster1.xml" Id="R84f241852d1a40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5098f3114648f9" /><Relationship Type="http://schemas.openxmlformats.org/officeDocument/2006/relationships/notesMaster" Target="/ppt/notesMasters/notesMaster1.xml" Id="R3fc00869b7bb4cc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3ac5c80b3246cd" /><Relationship Type="http://schemas.openxmlformats.org/officeDocument/2006/relationships/notesMaster" Target="/ppt/notesMasters/notesMaster1.xml" Id="Ree8ae636a9d143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533014b3cc4f89" /><Relationship Type="http://schemas.openxmlformats.org/officeDocument/2006/relationships/notesMaster" Target="/ppt/notesMasters/notesMaster1.xml" Id="Rd7b5c40656d840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b9bfdddfa94741" /><Relationship Type="http://schemas.openxmlformats.org/officeDocument/2006/relationships/notesMaster" Target="/ppt/notesMasters/notesMaster1.xml" Id="R98a39cf305924c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880a50a279f4e2f" /><Relationship Type="http://schemas.openxmlformats.org/officeDocument/2006/relationships/notesMaster" Target="/ppt/notesMasters/notesMaster1.xml" Id="Rd2db07b1564a4b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54d6cec9bc4b0a" /><Relationship Type="http://schemas.openxmlformats.org/officeDocument/2006/relationships/notesMaster" Target="/ppt/notesMasters/notesMaster1.xml" Id="R9f0ba5980ae349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8fed1fbdc34131" /><Relationship Type="http://schemas.openxmlformats.org/officeDocument/2006/relationships/notesMaster" Target="/ppt/notesMasters/notesMaster1.xml" Id="R908a3b6181564f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e18bab6df6d47c3" /><Relationship Type="http://schemas.openxmlformats.org/officeDocument/2006/relationships/notesMaster" Target="/ppt/notesMasters/notesMaster1.xml" Id="R4657dd50066748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saying this is a status deck for the revised thesis pipeline after addressing the supervisor comments.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the dataset is for norm formalization and reasoning, not for recommending meals.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previous folders were not deleted: they were moved under archive for provenance.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directly addresses the professor's three design comments: paired formalizations, predicates over product variables, and constitutive rules separated.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pipeline from dataset generation to validation, AST, backtranslation, and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Mention that validation is syntactic and structural; semantic conflict detection is the next reasoning layer.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conflict detection could be done with strings, but ASTs make it much more reliable and explainable.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round-trip task checks whether the formalization still expresses the original NL norm after being verbalized again.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clearly that automatic round-trip scores do not replace human semantic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by positioning the next step as conflict detection, with round-trip evaluation continuing in parallel.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564045430b46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0047b24e1244f1" /><Relationship Type="http://schemas.openxmlformats.org/officeDocument/2006/relationships/slideLayout" Target="/ppt/slideLayouts/slideLayout1.xml" Id="Rd71991967caa4d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1991967caa4d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hesis Teal">
      <a:dk1>
        <a:srgbClr val="000000"/>
      </a:dk1>
      <a:lt1>
        <a:srgbClr val="FFFFFF"/>
      </a:lt1>
      <a:dk2>
        <a:srgbClr val="102A43"/>
      </a:dk2>
      <a:lt2>
        <a:srgbClr val="D9E2EC"/>
      </a:lt2>
      <a:accent1>
        <a:srgbClr val="0F766E"/>
      </a:accent1>
      <a:accent2>
        <a:srgbClr val="B45309"/>
      </a:accent2>
      <a:accent3>
        <a:srgbClr val="2563EB"/>
      </a:accent3>
      <a:accent4>
        <a:srgbClr val="15803D"/>
      </a:accent4>
      <a:accent5>
        <a:srgbClr val="B91C1C"/>
      </a:accent5>
      <a:accent6>
        <a:srgbClr val="486581"/>
      </a:accent6>
      <a:hlink>
        <a:srgbClr val="2563EB"/>
      </a:hlink>
      <a:folHlink>
        <a:srgbClr val="0F76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hesis Te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1e12a6d5db4cc3" /><Relationship Type="http://schemas.openxmlformats.org/officeDocument/2006/relationships/notesSlide" Target="/ppt/notesSlides/notesSlide1.xml" Id="R0c5981b1417242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a8e37a9494375" /><Relationship Type="http://schemas.openxmlformats.org/officeDocument/2006/relationships/notesSlide" Target="/ppt/notesSlides/notesSlide2.xml" Id="R7ad3ad73643240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952a3fba4343f4" /><Relationship Type="http://schemas.openxmlformats.org/officeDocument/2006/relationships/notesSlide" Target="/ppt/notesSlides/notesSlide3.xml" Id="R58a08b02294845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262dabc5f44da" /><Relationship Type="http://schemas.openxmlformats.org/officeDocument/2006/relationships/notesSlide" Target="/ppt/notesSlides/notesSlide4.xml" Id="Ra10fa2fba5f340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e097ca2644303" /><Relationship Type="http://schemas.openxmlformats.org/officeDocument/2006/relationships/notesSlide" Target="/ppt/notesSlides/notesSlide5.xml" Id="Rb9ba05958f8248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c76bbb420464c" /><Relationship Type="http://schemas.openxmlformats.org/officeDocument/2006/relationships/notesSlide" Target="/ppt/notesSlides/notesSlide6.xml" Id="Re5a1c21f0cd647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841664c2c4ccd" /><Relationship Type="http://schemas.openxmlformats.org/officeDocument/2006/relationships/notesSlide" Target="/ppt/notesSlides/notesSlide7.xml" Id="Ra3380f215d274ed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a3baaa1be43cb" /><Relationship Type="http://schemas.openxmlformats.org/officeDocument/2006/relationships/notesSlide" Target="/ppt/notesSlides/notesSlide8.xml" Id="R6e44ac6be83045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1a99b0dbbf4f16" /><Relationship Type="http://schemas.openxmlformats.org/officeDocument/2006/relationships/notesSlide" Target="/ppt/notesSlides/notesSlide9.xml" Id="R2e2c4d2fca6d45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fbadd9f3104a7f" /><Relationship Type="http://schemas.openxmlformats.org/officeDocument/2006/relationships/notesSlide" Target="/ppt/notesSlides/notesSlide10.xml" Id="R80abc814d50e4d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448B50-2033-4C41-972C-537C86B4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47750"/>
            <a:ext cx="9906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Leveraging LLMs for Agent-Based Normative Recommender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502596-5B65-4DF4-9AA1-C54F8E66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Current dataset, grammar, validation, AST, and round-trip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2E8F5-238C-4996-832B-8A8BCBC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904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Food recommendation norms for DJ4ME-style machine ethics experiments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417186-F53F-435C-A2FE-74A5DA7E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571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0B485-F7FC-48F1-BC29-7DEFFE50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435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350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9CEAF-639A-46D9-93B3-F249010C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95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dataset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2B5F91-45A3-4349-97B2-D555D9EF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53000"/>
            <a:ext cx="2571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4535E-182A-4CB7-ACD2-2AF92712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1435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650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FC5027-FAE9-4EFF-B193-D076BBE7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695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validated formulas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EDECD5-6A8D-42E4-A900-00F2D203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53000"/>
            <a:ext cx="2571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3E9255-B92E-47FA-B6EB-576BB499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435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600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5AC6DC-A200-4083-8263-9AA15E2D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695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round-trip rows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66E7C3-4F93-43F0-9539-FCE0E37D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047750"/>
            <a:ext cx="3238500" cy="53340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55A538-0AE1-4244-9EA6-D7142477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3906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Current repo state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A301F8-6F84-4E3C-BB6E-7961684B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952625"/>
            <a:ext cx="2571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Active pipeline folders are now cleanly separated from archived previous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Latest pushed commit:</a:t>
            </a:r>
          </a:p>
          <a:p xmlns:a="http://schemas.openxmlformats.org/drawingml/2006/main">
            <a:pPr algn="l">
              <a:defRPr sz="142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6a3c2ac Archive previous repository folders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516272-473A-4550-9A1F-A3209322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4005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Source of truth: data/revised + grammar + scripts + outputs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EA6825-9915-4310-895A-BA5F16BD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962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29AB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29AB1"/>
                </a:solidFill>
                <a:latin typeface="Aptos"/>
                <a:ea typeface="Aptos"/>
                <a:cs typeface="Aptos"/>
              </a:rPr>
              <a:t>Repository: llm-normative-recommender  |  Slide 1</a:t>
            </a:r>
          </a:p>
        </p:txBody>
      </p:sp>
    </p:spTree>
    <p:extLst>
      <p:ext uri="{BB962C8B-B14F-4D97-AF65-F5344CB8AC3E}">
        <p14:creationId xmlns:p14="http://schemas.microsoft.com/office/powerpoint/2010/main" val="9401156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10EDE7-69FD-496B-96A3-C7047C46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RESEARCH OBJECT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F8B07C-24A3-45F1-A5E3-79D95D66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810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Purpose of the Dataset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9A3496-A0DE-4165-B84F-1B4DC897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A27FC-E7AA-40F1-94EB-890CDEAD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962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29AB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29AB1"/>
                </a:solidFill>
                <a:latin typeface="Aptos"/>
                <a:ea typeface="Aptos"/>
                <a:cs typeface="Aptos"/>
              </a:rPr>
              <a:t>Repository: llm-normative-recommender  |  Slide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4D6F1-81CA-4AB8-BA71-CD4E3FF1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1910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BAA56E-BB84-4CC1-AC54-EE324B87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762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0A995-4813-436B-9310-059E4D95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90750"/>
            <a:ext cx="377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What it 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43996D-C439-41C1-84BF-0048025E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28900"/>
            <a:ext cx="37719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A norm translation dataset, not a food recommendation dataset.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Each row connects natural language to formal deontic FOL.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Designed for stakeholder norms in a food recommender case study.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B8EE1-7057-4830-A53F-D38971A9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00250"/>
            <a:ext cx="41910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903ED-896D-40EA-B651-39EABE9E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00250"/>
            <a:ext cx="762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61C496-E407-4064-90A1-2885349A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377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What it evaluates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F9DA4-DB16-470B-81A3-75A932FD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28900"/>
            <a:ext cx="37719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LLM translation quality from NL to modal/deontic FOL.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Syntactic validity using a fixed grammar and parser.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AST structure, round-trip preservation, and conflict detection readiness.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459C0B-1D9E-40D2-8D81-9EC77BD2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00250"/>
            <a:ext cx="4000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DCB0CD-AEB0-47B1-9635-5F109C33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00250"/>
            <a:ext cx="762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5BF144-A171-4F21-A3A6-EA55681B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190750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Why stakeholders matter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AE626A-FE13-454A-A9BA-34AF2B8C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628900"/>
            <a:ext cx="35814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User norms express personal, medical, religious, and preference constraints.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Food Ministry norms express public-health and regulatory safeguards.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Food Industry norms express promotion, certification, and market constraints.</a:t>
            </a:r>
          </a:p>
        </p:txBody>
      </p:sp>
    </p:spTree>
    <p:extLst>
      <p:ext uri="{BB962C8B-B14F-4D97-AF65-F5344CB8AC3E}">
        <p14:creationId xmlns:p14="http://schemas.microsoft.com/office/powerpoint/2010/main" val="17069153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6FFC67-E689-41E3-A036-D1474ACC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IMPLEMENTATION ORGANIZATION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6AECD5-A306-4CF0-8332-7F7BC214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810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Repository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75F64-D522-4159-984A-3FEDF939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647034-ED44-43D0-854B-5268CED4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962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29AB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29AB1"/>
                </a:solidFill>
                <a:latin typeface="Aptos"/>
                <a:ea typeface="Aptos"/>
                <a:cs typeface="Aptos"/>
              </a:rPr>
              <a:t>Repository: llm-normative-recommender  |  Slide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019395-3B90-452F-B49B-751AAC52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134302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C990F3-1B25-4573-A77A-77912455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336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data/revised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D15149-8662-4633-8695-FC1F21D5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336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Main revised CSV datasets and constitutive rules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D51E93-628E-4DAE-B07B-AF8E8DE5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134302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1CB7B5-44C8-4B89-A79B-6074F35D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prompts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F3FD4A-B98F-4920-AE06-DA73FCC7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575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Stakeholder-specific reproducible generation prompts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C45591-CBA0-49D4-9407-6B3BD96C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48050"/>
            <a:ext cx="134302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C5D3F2-409F-409C-988D-77831731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grammar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96DF31-F803-4989-B8F5-257B2392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5814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Fixed Lark grammar for modal/deontic FOL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C5B052-F4F3-40EF-AB74-0BD225AE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134302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7EA2F1-C80A-4A45-A496-91BE702B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scripts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0D03C6-3F40-4FDA-A1D6-56E43AD5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305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Generation, validation, AST, backtranslation, evaluation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83D65A-7ABE-4B73-88A2-EF24BFC2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95850"/>
            <a:ext cx="134302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8F3D57-0BB3-4257-BB0F-2321E08A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292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outputs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B28EE-885B-4FDF-9F80-6F8E870C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292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Generated ASTs and round-trip evaluation files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D3BBEB-7523-4C8A-86D6-AA7AAAB9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19750"/>
            <a:ext cx="134302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AC495D-33DC-4152-8F8B-4F663483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53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docs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A677A5-AF48-48B7-BD33-0C47D3E9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7531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Thesis drafts, literature notes, design notes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B3DED7-9A89-4C4A-A37A-AD23F706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343650"/>
            <a:ext cx="134302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8FEB2E-CF57-41ED-B172-3B2C4BD8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477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archive/previous_structure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2433EB-DCA2-4C4B-84D3-A4C12624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4770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Older GitHub folders retained for traceability</a:t>
            </a:r>
          </a:p>
        </p:txBody>
      </p:sp>
    </p:spTree>
    <p:extLst>
      <p:ext uri="{BB962C8B-B14F-4D97-AF65-F5344CB8AC3E}">
        <p14:creationId xmlns:p14="http://schemas.microsoft.com/office/powerpoint/2010/main" val="14459297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B6EDE1-DDE3-4008-BFDA-28493FE7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SUPERVISOR COMMENTS ADDRESSED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56920E-4BB9-499D-8CE5-0DBA0166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810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Revised Dataset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91BADC-937D-4BF6-AA74-C60E8815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08759C-3141-4357-9626-2FF5AA39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962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29AB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29AB1"/>
                </a:solidFill>
                <a:latin typeface="Aptos"/>
                <a:ea typeface="Aptos"/>
                <a:cs typeface="Aptos"/>
              </a:rPr>
              <a:t>Repository: llm-normative-recommender  |  Slide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A14D1D-E684-4539-84D6-49A41547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3905250" cy="400050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41221C-4323-428B-9948-5BC4ECC6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762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D90CB-EAE3-4FFD-816E-1803E8CD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348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Main stakeholder rows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5AD8BE-F9A3-42F3-B6E4-5A6CAB55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24150"/>
            <a:ext cx="348615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id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stakeholder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nl_norm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implication_formula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dyadic_formula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norm_type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A1F773-ED6A-4E61-9347-97920304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095500"/>
            <a:ext cx="447675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FF4F7C-4D77-4AA3-B3B5-D539105D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095500"/>
            <a:ext cx="762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718162-1126-4EDD-8D63-3F92257D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86000"/>
            <a:ext cx="405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Paired formalizations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818BBF-7961-4EDD-A3FA-7E9EAF53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24150"/>
            <a:ext cx="405765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Same natural-language norm receives both formal versions.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Implication: X-&gt;O(Y), X-&gt;P(Y), X-&gt;F(Y).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Dyadic: O(Y|X), P(Y|X), F(Y|X).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This allows comparison rather than treating them as interchangeable.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13496-E4BE-4114-802C-AF08666F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95500"/>
            <a:ext cx="40005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82FC23-F522-4D48-8EA3-BA32BE1B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95500"/>
            <a:ext cx="762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DC608-A1BE-49B3-80A3-6D5D9249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286000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Constitutive rules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D8E5D1-9EA8-4DE6-8E6A-ED02561B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724150"/>
            <a:ext cx="35814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Stored separately as background domain knowledge.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Example: ∀y.shellfishMeal(y)-&gt;nonVegan(y).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Reduces redundant stakeholder rules.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Supports later reasoning over broader categories.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410BFF-8688-439C-833E-580FC788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67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Recommendation relation uses product and target user: recommend(System,y,x)</a:t>
            </a:r>
          </a:p>
        </p:txBody>
      </p:sp>
    </p:spTree>
    <p:extLst>
      <p:ext uri="{BB962C8B-B14F-4D97-AF65-F5344CB8AC3E}">
        <p14:creationId xmlns:p14="http://schemas.microsoft.com/office/powerpoint/2010/main" val="10490422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3CF931-27A9-4FE2-AA0A-DBE93099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WORKING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1F4DF4-11CB-4255-A04F-1A01067C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810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What the Files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5F798E-43D3-4E34-88ED-E2112BD3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85D1BB-C81A-4034-95F9-CB6B295E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962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29AB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29AB1"/>
                </a:solidFill>
                <a:latin typeface="Aptos"/>
                <a:ea typeface="Aptos"/>
                <a:cs typeface="Aptos"/>
              </a:rPr>
              <a:t>Repository: llm-normative-recommender  |  Slide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7AC4E9-3ABE-49B5-BF49-90A8728C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619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580389-8A12-4DCE-9A19-9DC7F234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76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3A80C2-5283-4FE1-9541-177525A5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577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generate_revised_*.py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6DD09-921E-474E-A738-3231E09C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81275"/>
            <a:ext cx="5772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Creates the 100-row stakeholder datasets using the revised paired-formula structure.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6070BD-BA0B-408C-AA41-8CD79C6C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952625"/>
            <a:ext cx="619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7A443E-F200-47AD-A82B-B3553246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952625"/>
            <a:ext cx="76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40DE7C-6A1B-4180-AD87-7793955F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43125"/>
            <a:ext cx="577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generate_constitutive_rules.py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4FE65-115C-47F8-917C-8412A961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81275"/>
            <a:ext cx="5772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Creates the separate 50-row background domain rule dataset.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8F38DF-5227-4610-A233-5A6B7154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71875"/>
            <a:ext cx="619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A6F126-5689-4099-8CE2-28FC933F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71875"/>
            <a:ext cx="76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26F447-84F7-4FFF-85AA-168C85D9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62375"/>
            <a:ext cx="577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validate_revised_datasets.py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DE9CD7-3B0B-4281-A13D-1236733B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00525"/>
            <a:ext cx="5772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Checks schema, parseability, formula design constraints, and duplicates.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1F03E-446C-47D5-AACE-6166EBD9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71875"/>
            <a:ext cx="619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560088-F57D-4192-9B73-870DFB2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71875"/>
            <a:ext cx="76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2D3F94-BCB8-41A3-A214-C5498CDC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62375"/>
            <a:ext cx="577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generate_asts.py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B0F254-DF04-4537-8A0E-C5D043E4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00525"/>
            <a:ext cx="5772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Parses formulas into JSON ASTs and normalized norm representations.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8C6A73-442E-4AB1-8418-D71ABAC0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91125"/>
            <a:ext cx="619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FB0FD9-1BF6-41C8-9D46-14BEE83A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91125"/>
            <a:ext cx="76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B41BA3-E83D-4A15-9349-A10F5C3C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81625"/>
            <a:ext cx="577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backtranslate_roundtrip.py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725B89-E4D8-47E5-911A-CA11B420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9775"/>
            <a:ext cx="5772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Turns normalized ASTs back into controlled natural language.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648763-7209-4239-AAC7-E5F2634B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191125"/>
            <a:ext cx="619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93AF21-5455-40F4-96F3-A552F36B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191125"/>
            <a:ext cx="76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72076E-170E-46AA-BA72-B99F4BF1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81625"/>
            <a:ext cx="577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evaluate_roundtrip.py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67ADA6-B474-4730-BE41-1F305ABA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819775"/>
            <a:ext cx="5772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Adds automatic preservation scores and blank human-evaluation columns.</a:t>
            </a:r>
          </a:p>
        </p:txBody>
      </p:sp>
    </p:spTree>
    <p:extLst>
      <p:ext uri="{BB962C8B-B14F-4D97-AF65-F5344CB8AC3E}">
        <p14:creationId xmlns:p14="http://schemas.microsoft.com/office/powerpoint/2010/main" val="3305843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C870FE-50AB-4F90-81E5-CFFEBA90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QUALITY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4AB92-CF83-46AA-B9A0-5A68FB89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810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Validation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2B18A-EA44-4FA3-A1BD-DBB7BCB1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738B5-F87B-4A86-9E53-6BCE5801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962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29AB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29AB1"/>
                </a:solidFill>
                <a:latin typeface="Aptos"/>
                <a:ea typeface="Aptos"/>
                <a:cs typeface="Aptos"/>
              </a:rPr>
              <a:t>Repository: llm-normative-recommender  |  Slide 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3AC0C9-F447-40BB-8786-365AEF86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85950"/>
            <a:ext cx="8763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54E97-C937-4C1E-A568-A40136BA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8172E7-6562-4AD6-A59A-BEA0B959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91452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Schema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5552D1-5023-4567-8F9E-CF9D40C9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14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Expected columns for stakeholder and constitutive CSV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D1042-FC67-4BAE-9EC6-673FCF19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8763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307611-B143-4F2F-8444-B8FD18C3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33675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3DEA8B-0D17-41C8-9DA3-B71F4E2E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6955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Syntax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EA01AB-141F-434E-A2AB-F1ADEC44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9557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Every formula parsed by grammar/grammar.lark using Lark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B8F1A1-F30A-416F-A241-4A47EF8E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48050"/>
            <a:ext cx="8763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B08DC6-4C96-4D83-A430-979E1968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E340E0-7A2E-40C2-B01E-AEA7EB35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47662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Formula shape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534612-F0DF-454F-BB8F-3B39981B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Implication formulas contain -&gt;; dyadic formulas contain |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23CBC0-3071-42E1-BDD7-3FFE6B18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8763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01A5AA-D44E-4DF1-A89A-26375452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95775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D626A7-64C8-4DF8-A34C-75799423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2576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Arity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99EB1B-76CE-42F3-ACBC-8219A466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5767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Recommendations use recommend(System,y,x)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A6BB2F-FE01-4CA3-B83E-724895439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10150"/>
            <a:ext cx="8763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21A5E4-A80C-492D-A4D4-274AADAD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76825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A005C3-C2D5-4603-B949-58AA3D38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03872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Variables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818073-8ED2-4C20-91EE-C6C8ECDC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0387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Stakeholder formulas start with ∀x.∀y.; constitutive rules start with ∀y.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ABE735-6A0A-41D8-A63F-53CC252A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91200"/>
            <a:ext cx="8763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A165B9-8FC4-4A0A-BF2E-29944F34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57875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23A2EE-7CE2-48A0-B8DD-751619AE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197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Uniqueness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6CE917-5F05-4145-A338-9EA62BAB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81977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Duplicate ids, NL norms, and formulas are flagged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9E9887-F3C8-4B5E-BD10-BA41E8A0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72250"/>
            <a:ext cx="8763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A1C077-3199-44A6-A548-D233C36F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38925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B92A5B-61DE-48BA-BBF9-E7AE153C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60082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Old style guard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D5476C-C051-4632-B581-C4125562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66008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Rejects previous constant-based forms such as recommend(System,EnergyDrink)</a:t>
            </a:r>
          </a:p>
        </p:txBody>
      </p:sp>
    </p:spTree>
    <p:extLst>
      <p:ext uri="{BB962C8B-B14F-4D97-AF65-F5344CB8AC3E}">
        <p14:creationId xmlns:p14="http://schemas.microsoft.com/office/powerpoint/2010/main" val="653901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74C809-F54A-47E6-91AD-33003474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WHY THE AST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7CDC1-AE38-490D-97A6-C9DE5B99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810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AST Generation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AB0CBB-896B-432F-9199-B87FCE68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4AD7E-BC2C-4C42-BCE0-662180C6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962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29AB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29AB1"/>
                </a:solidFill>
                <a:latin typeface="Aptos"/>
                <a:ea typeface="Aptos"/>
                <a:cs typeface="Aptos"/>
              </a:rPr>
              <a:t>Repository: llm-normative-recommender  |  Slide 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9CF1D-FCE1-48FC-9EEF-DA326792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3429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FF4E26-57B6-404D-82E6-A0B9BC26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Formula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EB5A9-BC48-4653-A9BF-FFEFBD02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∀x.∀y.child(x)∧energyDrink(y)-&gt;F(recommend(System,y,x))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492413-E571-4BD8-9AAB-76643F33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14650"/>
            <a:ext cx="904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A47435-0919-459E-A9D6-32E67088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8125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769AE-873C-4F4F-BEE4-284E3545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55270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Parse tree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FF9140-A353-4398-A5C0-F5EB98CE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89560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Grammar turns text into a structured tree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2C47A9-CBE5-4D49-8E9D-4209A34D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14650"/>
            <a:ext cx="904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04E882-A6BD-451D-8BEB-66E38089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8125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D14C46-F47B-4D59-9E6A-9541F1E6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5270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Normalized AST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82CB78-CAA9-4ED8-BA62-9C6919ED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895600"/>
            <a:ext cx="365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modality=F; action=recommend(...); condition=[child, energyDrink]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AF1970-05CB-44B0-8F4C-FC4F77DC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5524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2C7198-6889-4BF0-8298-4B23E6AC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0B2771-E405-4AAF-B9C4-AADCE885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Why use 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9FED6A-94D7-41A0-9A59-656FB342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05400"/>
            <a:ext cx="51054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Avoids fragile string matching over formulas.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Separates modality, action, condition, and quantifiers.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Makes formula-type comparison possible.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Prepares conflict detection over normalized structures.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4F7BEB-B724-400B-AB91-F11092D8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476750"/>
            <a:ext cx="5524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6A25D5-DAB6-4C29-AF78-AC2FC273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47675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87C55-94C3-4D54-8291-668730FD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672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Current outputs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DEC8A7-6714-45CF-AFCE-00C1DCB3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05400"/>
            <a:ext cx="51054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100 User AST records.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100 Food Ministry AST records.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100 Food Industry AST records.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50 constitutive rule AST records.</a:t>
            </a:r>
          </a:p>
        </p:txBody>
      </p:sp>
    </p:spTree>
    <p:extLst>
      <p:ext uri="{BB962C8B-B14F-4D97-AF65-F5344CB8AC3E}">
        <p14:creationId xmlns:p14="http://schemas.microsoft.com/office/powerpoint/2010/main" val="1018842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DE9765-3099-488C-BA5B-474E3528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FORMAL LOGIC BACK TO NATURAL LANGUAGE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87940-C553-43A4-B983-6C8E43EA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810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Round-Trip Consistency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08A4F-C01D-4DF8-90DD-532835F2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A796D-3BF5-48CA-BFA9-D0E4E384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962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29AB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29AB1"/>
                </a:solidFill>
                <a:latin typeface="Aptos"/>
                <a:ea typeface="Aptos"/>
                <a:cs typeface="Aptos"/>
              </a:rPr>
              <a:t>Repository: llm-normative-recommender  |  Slide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B29C0-60E9-4661-A4FD-8443507E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33625"/>
            <a:ext cx="27146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6DBBD4-4492-46CD-831F-F0174406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05075"/>
            <a:ext cx="2371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Original NL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8633ED-475B-4263-95F6-74787006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47975"/>
            <a:ext cx="2371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Children should not receive energy drink recommendations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37F05A-1C01-48DF-A5C6-1593DD9F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867025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68E3CC-B445-4B94-8E29-E75CD425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333625"/>
            <a:ext cx="2762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E2E5B-6774-48CE-B36A-FEA6A5F2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505075"/>
            <a:ext cx="2419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Formula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E85200-CEFF-490A-B58D-CB9189D4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847975"/>
            <a:ext cx="2419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∀x.∀y.child(x)∧energyDrink(y)-&gt;F(...)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F60C7F-2B9A-4B9E-A56D-BB80EB84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867025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7F9898-AEDF-47C6-A764-FBE4B87F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333625"/>
            <a:ext cx="2381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68F37E-3BE6-4585-9449-EA7CE5C1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505075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AST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DE3F43-E5B7-4004-A453-8A1D1194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84797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normalized modality, action, condition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22072E-B336-4644-96AC-1C85C692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2867025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A6BCDD-D795-434D-97FE-D9A0598D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525" y="2333625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DE68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0AC80D-8E53-4EA6-B1F0-98D2A061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1975" y="2505075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Backtranslation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3EDFC-25F6-4131-AF3F-79C1F72C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1975" y="2847975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For every user and product, if ... then prohibited ...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15BB13-D826-4582-B0C5-47C57FFE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4953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48E320-A35A-441D-9EAC-02B71665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762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804F6F-CE76-438D-A6AA-8D3F68C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Automatic score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D31DD9-A8DA-46DB-A8AC-FA7A2141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91150"/>
            <a:ext cx="45339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2 = modality and key concepts preserved.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1 = partial preservation or uncertain modality.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0 = possible semantic mismatch; human review needed.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C65A99-B0C7-41E3-86C6-989956B6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762500"/>
            <a:ext cx="62865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2168B2-FC16-4D0E-B759-00746F9E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762500"/>
            <a:ext cx="762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05C21E-219C-498A-B6D3-20CF7965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53000"/>
            <a:ext cx="586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Human evaluation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2EF814-A384-44FF-8ED7-E1EE2BA9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391150"/>
            <a:ext cx="58674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roundtrip_evaluated.csv contains blank human columns.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A reviewer can assign final semantic_score, error_type, and notes.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This supports the supervisor's NL→FOL→NL comparison suggestion.</a:t>
            </a:r>
          </a:p>
        </p:txBody>
      </p:sp>
    </p:spTree>
    <p:extLst>
      <p:ext uri="{BB962C8B-B14F-4D97-AF65-F5344CB8AC3E}">
        <p14:creationId xmlns:p14="http://schemas.microsoft.com/office/powerpoint/2010/main" val="18954122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4DC9DE-E3E6-4597-836B-A323368A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WHAT HAS PASSED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086B7-36D0-4477-9DC6-90DCE48A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810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Current Verification 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333105-5CB0-4C9F-BFCF-C8FDCA7C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3AF05-2F6F-4F0D-B1C8-D14D8285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962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29AB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29AB1"/>
                </a:solidFill>
                <a:latin typeface="Aptos"/>
                <a:ea typeface="Aptos"/>
                <a:cs typeface="Aptos"/>
              </a:rPr>
              <a:t>Repository: llm-normative-recommender  |  Slide 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637DF8-DE5C-427C-B717-F9958D0A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948A97-FE17-4A73-8FD9-8B366A24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90750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EDA5E7-080C-4739-9696-9580AD4E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User rows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642118-80DC-4D96-A76E-18275424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0002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3AE0AD-24C1-451F-8CE1-4F10866F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190750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100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35B61-067C-4A8A-B6D9-B4189D76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74320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Food Ministry rows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4AE6F0-D0FC-4F06-941A-360B3BFD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002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B821C6-3460-4A7D-BEAD-4B88C801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90750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3C5C2A-244B-4E70-84D6-145CB748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4320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Food Industry rows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1DB1CA-1797-4EF7-AEAD-FB5028D9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0002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395B88-72E3-4ADF-8A98-53828D83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190750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50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1E35FF-1DBC-4EEC-8B77-1ABB1830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74320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Constitutive rules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197078-E17D-495E-86E7-4E8DC475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0002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21369A-DB82-4E9C-A17D-662DA8D4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2190750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0E2831-4526-484D-AA2E-7FB89870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274320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validation errors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E3F6EE-DCFB-422A-A03A-4A1886B4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Round-trip automatic evaluation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620BE7-4A90-4423-AE7D-BFB4E183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Score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C1DCE9-960D-4FF6-ACCF-4F933087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62500"/>
            <a:ext cx="72390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DCFC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725C9E-DF4F-4221-8D00-E552F60D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62500"/>
            <a:ext cx="649097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5803D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11170B-96E4-4B5E-8C8A-45DC5E47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196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538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8E0B54-90FA-480E-B163-B2873E94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626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Score 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1972BA-F643-484B-8418-5250ADF4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486400"/>
            <a:ext cx="72390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01ECB7-D337-49E8-80C7-9459F6228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486400"/>
            <a:ext cx="4826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B45309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CBC336-D8AB-4388-9C16-7FA29299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5435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40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411BCE-7264-4F50-9BBC-08CD4DD5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865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1C1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B91C1C"/>
                </a:solidFill>
                <a:latin typeface="Aptos Display"/>
                <a:ea typeface="Aptos Display"/>
                <a:cs typeface="Aptos Display"/>
              </a:rPr>
              <a:t>Score 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27A4EA-BDEE-4709-AE84-5CA7CD90D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210300"/>
            <a:ext cx="72390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FEE2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5459BB-4FC1-4F9D-967A-C865AC66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210300"/>
            <a:ext cx="265430" cy="361950"/>
          </a:xfrm>
          <a:prstGeom xmlns:a="http://schemas.openxmlformats.org/drawingml/2006/main" prst="roundRect">
            <a:avLst>
              <a:gd name="adj" fmla="val 21531"/>
            </a:avLst>
          </a:prstGeom>
          <a:solidFill xmlns:a="http://schemas.openxmlformats.org/drawingml/2006/main">
            <a:srgbClr val="B91C1C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DD5476-6203-47EF-B1D1-820EFC20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62674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22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F19EA5-E407-4F68-9F43-94DF4A4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49580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B615D9-B911-46B4-AF40-9EA76A35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495800"/>
            <a:ext cx="76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2FE75E-4050-434B-A68A-F190620B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6863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Important interpretation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3BEA01-7ED3-4F49-A8F5-DBB0AB60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24450"/>
            <a:ext cx="30099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The automatic score is a triage aid, not the final thesis result.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Score 0 rows are candidates for human inspection.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The parser validation is already clean: 650 formulas, 0 errors.</a:t>
            </a:r>
          </a:p>
        </p:txBody>
      </p:sp>
    </p:spTree>
    <p:extLst>
      <p:ext uri="{BB962C8B-B14F-4D97-AF65-F5344CB8AC3E}">
        <p14:creationId xmlns:p14="http://schemas.microsoft.com/office/powerpoint/2010/main" val="10536871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D36DF4-563A-4FA5-A551-D8A47DCA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ROADMAP TOWARD THESIS CONTRIBUTION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D18F3-756D-427D-8987-4A95D599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810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Next Work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7544BE-9E2F-4EAB-8C75-8F8D8F94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326FA-3C8D-4434-AFBE-F2B3B38E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962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29AB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29AB1"/>
                </a:solidFill>
                <a:latin typeface="Aptos"/>
                <a:ea typeface="Aptos"/>
                <a:cs typeface="Aptos"/>
              </a:rPr>
              <a:t>Repository: llm-normative-recommender  |  Slide 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13813E-7562-4306-830C-2F55D201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39052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48B8C-A76A-4C4A-881F-DFFCE5A4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D821F-E658-4FA5-9C39-D0E48B8F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348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1. Human round-trip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2CDEB9-799F-4A25-9DE7-1EEDA441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76525"/>
            <a:ext cx="34861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Ask Viktor or another reviewer to score selected rows.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Compare human scores with automatic score labels.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Record common translation loss types.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293BD1-06FC-41D7-BF9F-7D95EF2A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47875"/>
            <a:ext cx="40957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535553-1F69-4A0A-B8D7-21492C24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47875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05C2D6-9AF7-4FE3-868E-C464904E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38375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2. Conflict detection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7CD50E-2903-41FA-8468-8AE819EE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76525"/>
            <a:ext cx="36766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Define conflict rules over normalized AST fields.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Compare NL-based LLM conflict detection with logic-based detection.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Use constitutive rules to lift specific foods into broader categories.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157042-2336-4BCA-80CE-305CDFB6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047875"/>
            <a:ext cx="39052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244D6-D5BB-4238-AD9A-5BF77A43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047875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D4758D-C789-42AE-82EE-008205DE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38375"/>
            <a:ext cx="348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3. Experimental setup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CA331A-1813-4A9C-AD3D-DA356D9A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676525"/>
            <a:ext cx="34861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Run one or more LLMs on the same fixed grammar.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Measure syntactic validity, semantic preservation, and conflict accuracy.</a:t>
            </a:r>
          </a:p>
          <a:p xmlns:a="http://schemas.openxmlformats.org/drawingml/2006/main">
            <a:pPr algn="l">
              <a:defRPr sz="1350" b="0">
                <a:solidFill>
                  <a:srgbClr val="48658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6581"/>
                </a:solidFill>
                <a:latin typeface="Aptos"/>
                <a:ea typeface="Aptos"/>
                <a:cs typeface="Aptos"/>
              </a:rPr>
              <a:t>• Report limits: generated data, prompt sensitivity, and formal semantics.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B155EE-519D-4DA5-AE7B-66ACF923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1285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D1B841-9BA1-4FE5-9821-DFD84DD6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578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Immediate next step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2614D8-10DF-44F1-99BA-07ECE93B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657850"/>
            <a:ext cx="895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Turn the AST normalization into a first conflict-detection script, then validate it on a small manually inspected conflict set.</a:t>
            </a:r>
          </a:p>
        </p:txBody>
      </p:sp>
    </p:spTree>
    <p:extLst>
      <p:ext uri="{BB962C8B-B14F-4D97-AF65-F5344CB8AC3E}">
        <p14:creationId xmlns:p14="http://schemas.microsoft.com/office/powerpoint/2010/main" val="1966927221"/>
      </p:ext>
    </p:extLst>
  </p:cSld>
</p:sld>
</file>

<file path=ppt/theme/theme1.xml><?xml version="1.0" encoding="utf-8"?>
<a:theme xmlns:a="http://schemas.openxmlformats.org/drawingml/2006/main" name="ChatGPT">
  <a:themeElements>
    <a:clrScheme name="Thesis Teal">
      <a:dk1>
        <a:srgbClr val="000000"/>
      </a:dk1>
      <a:lt1>
        <a:srgbClr val="FFFFFF"/>
      </a:lt1>
      <a:dk2>
        <a:srgbClr val="102A43"/>
      </a:dk2>
      <a:lt2>
        <a:srgbClr val="D9E2EC"/>
      </a:lt2>
      <a:accent1>
        <a:srgbClr val="0F766E"/>
      </a:accent1>
      <a:accent2>
        <a:srgbClr val="B45309"/>
      </a:accent2>
      <a:accent3>
        <a:srgbClr val="2563EB"/>
      </a:accent3>
      <a:accent4>
        <a:srgbClr val="15803D"/>
      </a:accent4>
      <a:accent5>
        <a:srgbClr val="B91C1C"/>
      </a:accent5>
      <a:accent6>
        <a:srgbClr val="486581"/>
      </a:accent6>
      <a:hlink>
        <a:srgbClr val="2563EB"/>
      </a:hlink>
      <a:folHlink>
        <a:srgbClr val="0F76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hesis Te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2026-06-16T04:05:46.0960000Z</dcterms:created>
  <dcterms:modified xsi:type="dcterms:W3CDTF">2026-06-16T04:05:46.0960000Z</dcterms:modified>
</coreProperties>
</file>