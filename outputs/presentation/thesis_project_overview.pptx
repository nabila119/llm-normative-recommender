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5240000" cy="8572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5D4"/>
          </a:solidFill>
        </a:fill>
      </a:tcStyle>
    </a:wholeTbl>
    <a:band2H>
      <a:tcTxStyle b="def" i="def"/>
      <a:tcStyle>
        <a:tcBdr/>
        <a:fill>
          <a:solidFill>
            <a:srgbClr val="E6EBEA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2F7"/>
          </a:solidFill>
        </a:fill>
      </a:tcStyle>
    </a:wholeTbl>
    <a:band2H>
      <a:tcTxStyle b="def" i="def"/>
      <a:tcStyle>
        <a:tcBdr/>
        <a:fill>
          <a:solidFill>
            <a:srgbClr val="E7EAFB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D2D7"/>
          </a:solidFill>
        </a:fill>
      </a:tcStyle>
    </a:wholeTbl>
    <a:band2H>
      <a:tcTxStyle b="def" i="def"/>
      <a:tcStyle>
        <a:tcBdr/>
        <a:fill>
          <a:solidFill>
            <a:srgbClr val="E8EA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" name="Shape 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Open by saying this is a status deck for the revised thesis pipeline after addressing the supervisor comments.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" name="Shape 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Emphasize that the dataset is for norm formalization and reasoning, not for recommending meals.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" name="Shape 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that the previous folders were not deleted: they were moved under archive for provenance.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4" name="Shape 1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slide directly addresses the professor's three design comments: paired formalizations, predicates over product variables, and constitutive rules separated.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Walk through the pipeline from dataset generation to validation, AST, backtranslation, and evaluation.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0" name="Shape 1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Mention that validation is syntactic and structural; semantic conflict detection is the next reasoning layer.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Shape 1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that conflict detection could be done with strings, but ASTs make it much more reliable and explainable.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6" name="Shape 2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round-trip task checks whether the formalization still expresses the original NL norm after being verbalized again.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5" name="Shape 2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State clearly that automatic round-trip scores do not replace human semantic evaluation.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7" name="Shape 2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End by positioning the next step as conflict detection, with round-trip evaluation continuing in parallel.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143000" y="2305843"/>
            <a:ext cx="12954000" cy="255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2286000" y="4857750"/>
            <a:ext cx="10668000" cy="3714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366000" y="7716837"/>
            <a:ext cx="3556000" cy="4572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everaging LLMs for Agent-Based Normative Recommender Systems"/>
          <p:cNvSpPr txBox="1"/>
          <p:nvPr/>
        </p:nvSpPr>
        <p:spPr>
          <a:xfrm>
            <a:off x="864869" y="1047750"/>
            <a:ext cx="9814561" cy="1361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2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Leveraging LLMs for Agent-Based Normative Recommender Systems</a:t>
            </a:r>
          </a:p>
        </p:txBody>
      </p:sp>
      <p:sp>
        <p:nvSpPr>
          <p:cNvPr id="21" name="Current dataset, grammar, validation, AST, and round-trip pipeline"/>
          <p:cNvSpPr txBox="1"/>
          <p:nvPr/>
        </p:nvSpPr>
        <p:spPr>
          <a:xfrm>
            <a:off x="864869" y="2686050"/>
            <a:ext cx="924306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Current dataset, grammar, validation, AST, and round-trip pipeline</a:t>
            </a:r>
          </a:p>
        </p:txBody>
      </p:sp>
      <p:sp>
        <p:nvSpPr>
          <p:cNvPr id="22" name="Food recommendation norms for DJ4ME-style machine ethics experiments"/>
          <p:cNvSpPr txBox="1"/>
          <p:nvPr/>
        </p:nvSpPr>
        <p:spPr>
          <a:xfrm>
            <a:off x="864869" y="3276600"/>
            <a:ext cx="8957311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Food recommendation norms for DJ4ME-style machine ethics experiments</a:t>
            </a:r>
          </a:p>
        </p:txBody>
      </p:sp>
      <p:sp>
        <p:nvSpPr>
          <p:cNvPr id="23" name="Rounded Rectangle"/>
          <p:cNvSpPr/>
          <p:nvPr/>
        </p:nvSpPr>
        <p:spPr>
          <a:xfrm>
            <a:off x="819150" y="4953000"/>
            <a:ext cx="25717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4" name="350"/>
          <p:cNvSpPr txBox="1"/>
          <p:nvPr/>
        </p:nvSpPr>
        <p:spPr>
          <a:xfrm>
            <a:off x="1074419" y="5143500"/>
            <a:ext cx="206121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350</a:t>
            </a:r>
          </a:p>
        </p:txBody>
      </p:sp>
      <p:sp>
        <p:nvSpPr>
          <p:cNvPr id="25" name="dataset records"/>
          <p:cNvSpPr txBox="1"/>
          <p:nvPr/>
        </p:nvSpPr>
        <p:spPr>
          <a:xfrm>
            <a:off x="1074419" y="5695950"/>
            <a:ext cx="20612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dataset records</a:t>
            </a:r>
          </a:p>
        </p:txBody>
      </p:sp>
      <p:sp>
        <p:nvSpPr>
          <p:cNvPr id="26" name="Rounded Rectangle"/>
          <p:cNvSpPr/>
          <p:nvPr/>
        </p:nvSpPr>
        <p:spPr>
          <a:xfrm>
            <a:off x="3676650" y="4953000"/>
            <a:ext cx="25717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7" name="650"/>
          <p:cNvSpPr txBox="1"/>
          <p:nvPr/>
        </p:nvSpPr>
        <p:spPr>
          <a:xfrm>
            <a:off x="3931920" y="5143500"/>
            <a:ext cx="2061211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chemeClr val="accent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650</a:t>
            </a:r>
          </a:p>
        </p:txBody>
      </p:sp>
      <p:sp>
        <p:nvSpPr>
          <p:cNvPr id="28" name="validated formulas"/>
          <p:cNvSpPr txBox="1"/>
          <p:nvPr/>
        </p:nvSpPr>
        <p:spPr>
          <a:xfrm>
            <a:off x="3931920" y="5695950"/>
            <a:ext cx="206121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validated formulas</a:t>
            </a:r>
          </a:p>
        </p:txBody>
      </p:sp>
      <p:sp>
        <p:nvSpPr>
          <p:cNvPr id="29" name="Rounded Rectangle"/>
          <p:cNvSpPr/>
          <p:nvPr/>
        </p:nvSpPr>
        <p:spPr>
          <a:xfrm>
            <a:off x="6534150" y="4953000"/>
            <a:ext cx="25717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30" name="600"/>
          <p:cNvSpPr txBox="1"/>
          <p:nvPr/>
        </p:nvSpPr>
        <p:spPr>
          <a:xfrm>
            <a:off x="6789419" y="5143500"/>
            <a:ext cx="2061211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chemeClr val="accent2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600</a:t>
            </a:r>
          </a:p>
        </p:txBody>
      </p:sp>
      <p:sp>
        <p:nvSpPr>
          <p:cNvPr id="31" name="round-trip rows"/>
          <p:cNvSpPr txBox="1"/>
          <p:nvPr/>
        </p:nvSpPr>
        <p:spPr>
          <a:xfrm>
            <a:off x="6789419" y="5695950"/>
            <a:ext cx="206121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round-trip rows</a:t>
            </a:r>
          </a:p>
        </p:txBody>
      </p:sp>
      <p:sp>
        <p:nvSpPr>
          <p:cNvPr id="32" name="Rounded Rectangle"/>
          <p:cNvSpPr/>
          <p:nvPr/>
        </p:nvSpPr>
        <p:spPr>
          <a:xfrm>
            <a:off x="10668000" y="1047750"/>
            <a:ext cx="3238500" cy="5334000"/>
          </a:xfrm>
          <a:prstGeom prst="roundRect">
            <a:avLst>
              <a:gd name="adj" fmla="val 2353"/>
            </a:avLst>
          </a:prstGeom>
          <a:solidFill>
            <a:srgbClr val="CCFBF1"/>
          </a:solidFill>
          <a:ln>
            <a:solidFill>
              <a:srgbClr val="99F6E4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33" name="Current repo state"/>
          <p:cNvSpPr txBox="1"/>
          <p:nvPr/>
        </p:nvSpPr>
        <p:spPr>
          <a:xfrm>
            <a:off x="10999469" y="1390650"/>
            <a:ext cx="257556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Current repo state</a:t>
            </a:r>
          </a:p>
        </p:txBody>
      </p:sp>
      <p:sp>
        <p:nvSpPr>
          <p:cNvPr id="34" name="Source of truth: data/revised + grammar + scripts + outputs"/>
          <p:cNvSpPr txBox="1"/>
          <p:nvPr/>
        </p:nvSpPr>
        <p:spPr>
          <a:xfrm>
            <a:off x="10957944" y="1908996"/>
            <a:ext cx="238506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Source of truth: data/revised + grammar + scripts + outputs</a:t>
            </a:r>
          </a:p>
        </p:txBody>
      </p:sp>
      <p:sp>
        <p:nvSpPr>
          <p:cNvPr id="35" name="Repository: llm-normative-recommender  |  Slide 1"/>
          <p:cNvSpPr txBox="1"/>
          <p:nvPr/>
        </p:nvSpPr>
        <p:spPr>
          <a:xfrm>
            <a:off x="864869" y="8096250"/>
            <a:ext cx="9433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29A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Repository: llm-normative-recommender  |  Slide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SEARCH OBJECT"/>
          <p:cNvSpPr txBox="1"/>
          <p:nvPr/>
        </p:nvSpPr>
        <p:spPr>
          <a:xfrm>
            <a:off x="864869" y="438150"/>
            <a:ext cx="7147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RESEARCH OBJECT</a:t>
            </a:r>
          </a:p>
        </p:txBody>
      </p:sp>
      <p:sp>
        <p:nvSpPr>
          <p:cNvPr id="40" name="Purpose of the Dataset"/>
          <p:cNvSpPr txBox="1"/>
          <p:nvPr/>
        </p:nvSpPr>
        <p:spPr>
          <a:xfrm>
            <a:off x="864869" y="781050"/>
            <a:ext cx="103860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Purpose of the Dataset</a:t>
            </a:r>
          </a:p>
        </p:txBody>
      </p:sp>
      <p:sp>
        <p:nvSpPr>
          <p:cNvPr id="41" name="Line"/>
          <p:cNvSpPr/>
          <p:nvPr/>
        </p:nvSpPr>
        <p:spPr>
          <a:xfrm>
            <a:off x="819150" y="1428750"/>
            <a:ext cx="13601700" cy="0"/>
          </a:xfrm>
          <a:prstGeom prst="line">
            <a:avLst/>
          </a:prstGeom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2" name="Repository: llm-normative-recommender  |  Slide 2"/>
          <p:cNvSpPr txBox="1"/>
          <p:nvPr/>
        </p:nvSpPr>
        <p:spPr>
          <a:xfrm>
            <a:off x="864869" y="8096250"/>
            <a:ext cx="9433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29A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Repository: llm-normative-recommender  |  Slide 2</a:t>
            </a:r>
          </a:p>
        </p:txBody>
      </p:sp>
      <p:sp>
        <p:nvSpPr>
          <p:cNvPr id="43" name="Rounded Rectangle"/>
          <p:cNvSpPr/>
          <p:nvPr/>
        </p:nvSpPr>
        <p:spPr>
          <a:xfrm>
            <a:off x="819150" y="2000250"/>
            <a:ext cx="4191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44" name="Rectangle"/>
          <p:cNvSpPr/>
          <p:nvPr/>
        </p:nvSpPr>
        <p:spPr>
          <a:xfrm>
            <a:off x="819150" y="2000250"/>
            <a:ext cx="76200" cy="34290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5" name="What it is"/>
          <p:cNvSpPr txBox="1"/>
          <p:nvPr/>
        </p:nvSpPr>
        <p:spPr>
          <a:xfrm>
            <a:off x="1093469" y="2190750"/>
            <a:ext cx="368046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What it is</a:t>
            </a:r>
          </a:p>
        </p:txBody>
      </p:sp>
      <p:sp>
        <p:nvSpPr>
          <p:cNvPr id="46" name="A norm translation dataset…"/>
          <p:cNvSpPr txBox="1"/>
          <p:nvPr/>
        </p:nvSpPr>
        <p:spPr>
          <a:xfrm>
            <a:off x="1093469" y="2628900"/>
            <a:ext cx="3680461" cy="1107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30342" indent="-130342">
              <a:buSzPct val="100000"/>
              <a:buChar char="•"/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norm translation dataset</a:t>
            </a:r>
          </a:p>
          <a:p>
            <a:pPr marL="130342" indent="-130342">
              <a:buSzPct val="100000"/>
              <a:buChar char="•"/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Each row connects natural language to formal deontic and implication based FOL.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Designed for stakeholder norms in a food recommender case study.</a:t>
            </a:r>
          </a:p>
        </p:txBody>
      </p:sp>
      <p:sp>
        <p:nvSpPr>
          <p:cNvPr id="47" name="Rounded Rectangle"/>
          <p:cNvSpPr/>
          <p:nvPr/>
        </p:nvSpPr>
        <p:spPr>
          <a:xfrm>
            <a:off x="5581650" y="2000250"/>
            <a:ext cx="4191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48" name="Rectangle"/>
          <p:cNvSpPr/>
          <p:nvPr/>
        </p:nvSpPr>
        <p:spPr>
          <a:xfrm>
            <a:off x="5581650" y="2000250"/>
            <a:ext cx="76200" cy="342900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9" name="What it evaluates"/>
          <p:cNvSpPr txBox="1"/>
          <p:nvPr/>
        </p:nvSpPr>
        <p:spPr>
          <a:xfrm>
            <a:off x="5855970" y="2190750"/>
            <a:ext cx="3680460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What it evaluates</a:t>
            </a:r>
          </a:p>
        </p:txBody>
      </p:sp>
      <p:sp>
        <p:nvSpPr>
          <p:cNvPr id="50" name="• LLM translation quality from NL to modal/deontic and implication based FOL.…"/>
          <p:cNvSpPr txBox="1"/>
          <p:nvPr/>
        </p:nvSpPr>
        <p:spPr>
          <a:xfrm>
            <a:off x="5855970" y="2628900"/>
            <a:ext cx="3680460" cy="1310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LLM translation quality from NL to modal/deontic and implication based FOL.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Syntactic validity using a fixed grammar and parser.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AST structure, round-trip preservation, and conflict detection readiness.</a:t>
            </a:r>
          </a:p>
        </p:txBody>
      </p:sp>
      <p:sp>
        <p:nvSpPr>
          <p:cNvPr id="51" name="Rounded Rectangle"/>
          <p:cNvSpPr/>
          <p:nvPr/>
        </p:nvSpPr>
        <p:spPr>
          <a:xfrm>
            <a:off x="10344150" y="2000250"/>
            <a:ext cx="40005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52" name="Rectangle"/>
          <p:cNvSpPr/>
          <p:nvPr/>
        </p:nvSpPr>
        <p:spPr>
          <a:xfrm>
            <a:off x="10344150" y="2000250"/>
            <a:ext cx="76200" cy="342900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" name="Why stakeholders matter"/>
          <p:cNvSpPr txBox="1"/>
          <p:nvPr/>
        </p:nvSpPr>
        <p:spPr>
          <a:xfrm>
            <a:off x="10618469" y="2190750"/>
            <a:ext cx="348996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Why stakeholders matter</a:t>
            </a:r>
          </a:p>
        </p:txBody>
      </p:sp>
      <p:sp>
        <p:nvSpPr>
          <p:cNvPr id="54" name="• User norms express personal, medical, religious, and preference constraints.…"/>
          <p:cNvSpPr txBox="1"/>
          <p:nvPr/>
        </p:nvSpPr>
        <p:spPr>
          <a:xfrm>
            <a:off x="10618469" y="2628900"/>
            <a:ext cx="3489961" cy="1310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User norms express personal, medical, religious, and preference constraints.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Food Ministry norms express public-health and regulatory safeguards.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Food Industry norms express promotion, certification, and market constraints.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IMPLEMENTATION ORGANIZATION"/>
          <p:cNvSpPr txBox="1"/>
          <p:nvPr/>
        </p:nvSpPr>
        <p:spPr>
          <a:xfrm>
            <a:off x="864869" y="438150"/>
            <a:ext cx="7147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IMPLEMENTATION ORGANIZATION</a:t>
            </a:r>
          </a:p>
        </p:txBody>
      </p:sp>
      <p:sp>
        <p:nvSpPr>
          <p:cNvPr id="59" name="Repository Structure"/>
          <p:cNvSpPr txBox="1"/>
          <p:nvPr/>
        </p:nvSpPr>
        <p:spPr>
          <a:xfrm>
            <a:off x="864869" y="781050"/>
            <a:ext cx="103860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Repository Structure</a:t>
            </a:r>
          </a:p>
        </p:txBody>
      </p:sp>
      <p:sp>
        <p:nvSpPr>
          <p:cNvPr id="60" name="Line"/>
          <p:cNvSpPr/>
          <p:nvPr/>
        </p:nvSpPr>
        <p:spPr>
          <a:xfrm>
            <a:off x="819150" y="1428750"/>
            <a:ext cx="13601700" cy="0"/>
          </a:xfrm>
          <a:prstGeom prst="line">
            <a:avLst/>
          </a:prstGeom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1" name="Repository: llm-normative-recommender  |  Slide 3"/>
          <p:cNvSpPr txBox="1"/>
          <p:nvPr/>
        </p:nvSpPr>
        <p:spPr>
          <a:xfrm>
            <a:off x="864869" y="8096250"/>
            <a:ext cx="9433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29A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Repository: llm-normative-recommender  |  Slide 3</a:t>
            </a:r>
          </a:p>
        </p:txBody>
      </p:sp>
      <p:sp>
        <p:nvSpPr>
          <p:cNvPr id="62" name="Rounded Rectangle"/>
          <p:cNvSpPr/>
          <p:nvPr/>
        </p:nvSpPr>
        <p:spPr>
          <a:xfrm>
            <a:off x="819150" y="2000250"/>
            <a:ext cx="1343025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3" name="data/revised"/>
          <p:cNvSpPr txBox="1"/>
          <p:nvPr/>
        </p:nvSpPr>
        <p:spPr>
          <a:xfrm>
            <a:off x="1093469" y="2133600"/>
            <a:ext cx="3051812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data/revised</a:t>
            </a:r>
          </a:p>
        </p:txBody>
      </p:sp>
      <p:sp>
        <p:nvSpPr>
          <p:cNvPr id="64" name="Main revised CSV datasets and constitutive rules"/>
          <p:cNvSpPr txBox="1"/>
          <p:nvPr/>
        </p:nvSpPr>
        <p:spPr>
          <a:xfrm>
            <a:off x="4579620" y="2133600"/>
            <a:ext cx="8862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Main revised CSV datasets and constitutive rules</a:t>
            </a:r>
          </a:p>
        </p:txBody>
      </p:sp>
      <p:sp>
        <p:nvSpPr>
          <p:cNvPr id="65" name="Rounded Rectangle"/>
          <p:cNvSpPr/>
          <p:nvPr/>
        </p:nvSpPr>
        <p:spPr>
          <a:xfrm>
            <a:off x="819150" y="2724150"/>
            <a:ext cx="1343025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6" name="prompts"/>
          <p:cNvSpPr txBox="1"/>
          <p:nvPr/>
        </p:nvSpPr>
        <p:spPr>
          <a:xfrm>
            <a:off x="1093469" y="2857500"/>
            <a:ext cx="3051812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prompts</a:t>
            </a:r>
          </a:p>
        </p:txBody>
      </p:sp>
      <p:sp>
        <p:nvSpPr>
          <p:cNvPr id="67" name="Stakeholder-specific reproducible generation prompts"/>
          <p:cNvSpPr txBox="1"/>
          <p:nvPr/>
        </p:nvSpPr>
        <p:spPr>
          <a:xfrm>
            <a:off x="4579620" y="2857500"/>
            <a:ext cx="8862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Stakeholder-specific reproducible generation prompts</a:t>
            </a:r>
          </a:p>
        </p:txBody>
      </p:sp>
      <p:sp>
        <p:nvSpPr>
          <p:cNvPr id="68" name="Rounded Rectangle"/>
          <p:cNvSpPr/>
          <p:nvPr/>
        </p:nvSpPr>
        <p:spPr>
          <a:xfrm>
            <a:off x="819150" y="3448050"/>
            <a:ext cx="1343025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9" name="grammar"/>
          <p:cNvSpPr txBox="1"/>
          <p:nvPr/>
        </p:nvSpPr>
        <p:spPr>
          <a:xfrm>
            <a:off x="1093469" y="3581400"/>
            <a:ext cx="3051812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grammar</a:t>
            </a:r>
          </a:p>
        </p:txBody>
      </p:sp>
      <p:sp>
        <p:nvSpPr>
          <p:cNvPr id="70" name="Fixed Lark grammar for modal/deontic FOL"/>
          <p:cNvSpPr txBox="1"/>
          <p:nvPr/>
        </p:nvSpPr>
        <p:spPr>
          <a:xfrm>
            <a:off x="4579620" y="3581400"/>
            <a:ext cx="8862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Fixed Lark grammar for modal/deontic FOL</a:t>
            </a:r>
          </a:p>
        </p:txBody>
      </p:sp>
      <p:sp>
        <p:nvSpPr>
          <p:cNvPr id="71" name="Rounded Rectangle"/>
          <p:cNvSpPr/>
          <p:nvPr/>
        </p:nvSpPr>
        <p:spPr>
          <a:xfrm>
            <a:off x="819150" y="4171950"/>
            <a:ext cx="1343025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2" name="scripts"/>
          <p:cNvSpPr txBox="1"/>
          <p:nvPr/>
        </p:nvSpPr>
        <p:spPr>
          <a:xfrm>
            <a:off x="1093469" y="4305300"/>
            <a:ext cx="3051812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scripts</a:t>
            </a:r>
          </a:p>
        </p:txBody>
      </p:sp>
      <p:sp>
        <p:nvSpPr>
          <p:cNvPr id="73" name="Generation, validation, AST, backtranslation, evaluation"/>
          <p:cNvSpPr txBox="1"/>
          <p:nvPr/>
        </p:nvSpPr>
        <p:spPr>
          <a:xfrm>
            <a:off x="4579620" y="4305300"/>
            <a:ext cx="8862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Generation, validation, AST, backtranslation, evaluation</a:t>
            </a:r>
          </a:p>
        </p:txBody>
      </p:sp>
      <p:sp>
        <p:nvSpPr>
          <p:cNvPr id="74" name="Rounded Rectangle"/>
          <p:cNvSpPr/>
          <p:nvPr/>
        </p:nvSpPr>
        <p:spPr>
          <a:xfrm>
            <a:off x="819150" y="4895850"/>
            <a:ext cx="1343025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5" name="outputs"/>
          <p:cNvSpPr txBox="1"/>
          <p:nvPr/>
        </p:nvSpPr>
        <p:spPr>
          <a:xfrm>
            <a:off x="1093469" y="5029200"/>
            <a:ext cx="3051812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outputs</a:t>
            </a:r>
          </a:p>
        </p:txBody>
      </p:sp>
      <p:sp>
        <p:nvSpPr>
          <p:cNvPr id="76" name="Generated ASTs and round-trip evaluation files"/>
          <p:cNvSpPr txBox="1"/>
          <p:nvPr/>
        </p:nvSpPr>
        <p:spPr>
          <a:xfrm>
            <a:off x="4579620" y="5029200"/>
            <a:ext cx="8862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Generated ASTs and round-trip evaluation files</a:t>
            </a:r>
          </a:p>
        </p:txBody>
      </p:sp>
      <p:sp>
        <p:nvSpPr>
          <p:cNvPr id="77" name="Rounded Rectangle"/>
          <p:cNvSpPr/>
          <p:nvPr/>
        </p:nvSpPr>
        <p:spPr>
          <a:xfrm>
            <a:off x="819150" y="5619750"/>
            <a:ext cx="1343025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8" name="docs"/>
          <p:cNvSpPr txBox="1"/>
          <p:nvPr/>
        </p:nvSpPr>
        <p:spPr>
          <a:xfrm>
            <a:off x="1093469" y="5753100"/>
            <a:ext cx="3051812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docs</a:t>
            </a:r>
          </a:p>
        </p:txBody>
      </p:sp>
      <p:sp>
        <p:nvSpPr>
          <p:cNvPr id="79" name="Thesis drafts, literature notes, design notes"/>
          <p:cNvSpPr txBox="1"/>
          <p:nvPr/>
        </p:nvSpPr>
        <p:spPr>
          <a:xfrm>
            <a:off x="4579620" y="5753100"/>
            <a:ext cx="8862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Thesis drafts, literature notes, design notes</a:t>
            </a:r>
          </a:p>
        </p:txBody>
      </p:sp>
      <p:sp>
        <p:nvSpPr>
          <p:cNvPr id="80" name="Rounded Rectangle"/>
          <p:cNvSpPr/>
          <p:nvPr/>
        </p:nvSpPr>
        <p:spPr>
          <a:xfrm>
            <a:off x="819150" y="6343650"/>
            <a:ext cx="13430250" cy="533400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1" name="archive/previous_structure"/>
          <p:cNvSpPr txBox="1"/>
          <p:nvPr/>
        </p:nvSpPr>
        <p:spPr>
          <a:xfrm>
            <a:off x="1093469" y="6477000"/>
            <a:ext cx="3051812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chemeClr val="accent2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archive/previous_structure</a:t>
            </a:r>
          </a:p>
        </p:txBody>
      </p:sp>
      <p:sp>
        <p:nvSpPr>
          <p:cNvPr id="82" name="Older GitHub folders retained for traceability"/>
          <p:cNvSpPr txBox="1"/>
          <p:nvPr/>
        </p:nvSpPr>
        <p:spPr>
          <a:xfrm>
            <a:off x="4579620" y="6477000"/>
            <a:ext cx="8862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Older GitHub folders retained for traceability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UPERVISOR COMMENTS ADDRESSED"/>
          <p:cNvSpPr txBox="1"/>
          <p:nvPr/>
        </p:nvSpPr>
        <p:spPr>
          <a:xfrm>
            <a:off x="864869" y="438150"/>
            <a:ext cx="7147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SUPERVISOR COMMENTS ADDRESSED</a:t>
            </a:r>
          </a:p>
        </p:txBody>
      </p:sp>
      <p:sp>
        <p:nvSpPr>
          <p:cNvPr id="87" name="Revised Dataset Design"/>
          <p:cNvSpPr txBox="1"/>
          <p:nvPr/>
        </p:nvSpPr>
        <p:spPr>
          <a:xfrm>
            <a:off x="864869" y="781050"/>
            <a:ext cx="103860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Revised Dataset Design</a:t>
            </a:r>
          </a:p>
        </p:txBody>
      </p:sp>
      <p:sp>
        <p:nvSpPr>
          <p:cNvPr id="88" name="Line"/>
          <p:cNvSpPr/>
          <p:nvPr/>
        </p:nvSpPr>
        <p:spPr>
          <a:xfrm>
            <a:off x="819150" y="1428750"/>
            <a:ext cx="13601700" cy="0"/>
          </a:xfrm>
          <a:prstGeom prst="line">
            <a:avLst/>
          </a:prstGeom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9" name="Repository: llm-normative-recommender  |  Slide 4"/>
          <p:cNvSpPr txBox="1"/>
          <p:nvPr/>
        </p:nvSpPr>
        <p:spPr>
          <a:xfrm>
            <a:off x="864869" y="8096250"/>
            <a:ext cx="9433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29A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Repository: llm-normative-recommender  |  Slide 4</a:t>
            </a:r>
          </a:p>
        </p:txBody>
      </p:sp>
      <p:sp>
        <p:nvSpPr>
          <p:cNvPr id="90" name="Rounded Rectangle"/>
          <p:cNvSpPr/>
          <p:nvPr/>
        </p:nvSpPr>
        <p:spPr>
          <a:xfrm>
            <a:off x="819150" y="2095500"/>
            <a:ext cx="3905250" cy="40005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91" name="Rectangle"/>
          <p:cNvSpPr/>
          <p:nvPr/>
        </p:nvSpPr>
        <p:spPr>
          <a:xfrm>
            <a:off x="819150" y="2095500"/>
            <a:ext cx="76200" cy="400050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2" name="Main stakeholder rows"/>
          <p:cNvSpPr txBox="1"/>
          <p:nvPr/>
        </p:nvSpPr>
        <p:spPr>
          <a:xfrm>
            <a:off x="1093469" y="2286000"/>
            <a:ext cx="339471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Main stakeholder rows</a:t>
            </a:r>
          </a:p>
        </p:txBody>
      </p:sp>
      <p:sp>
        <p:nvSpPr>
          <p:cNvPr id="93" name="• id…"/>
          <p:cNvSpPr txBox="1"/>
          <p:nvPr/>
        </p:nvSpPr>
        <p:spPr>
          <a:xfrm>
            <a:off x="1093469" y="2724150"/>
            <a:ext cx="3394711" cy="1310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id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stakeholder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nl_norm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implication_formula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dyadic_formula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norm_type</a:t>
            </a:r>
          </a:p>
        </p:txBody>
      </p:sp>
      <p:sp>
        <p:nvSpPr>
          <p:cNvPr id="94" name="Rounded Rectangle"/>
          <p:cNvSpPr/>
          <p:nvPr/>
        </p:nvSpPr>
        <p:spPr>
          <a:xfrm>
            <a:off x="5295900" y="2095500"/>
            <a:ext cx="4476750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95" name="Rectangle"/>
          <p:cNvSpPr/>
          <p:nvPr/>
        </p:nvSpPr>
        <p:spPr>
          <a:xfrm>
            <a:off x="5295900" y="2095500"/>
            <a:ext cx="76200" cy="400050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6" name="Paired formalizations"/>
          <p:cNvSpPr txBox="1"/>
          <p:nvPr/>
        </p:nvSpPr>
        <p:spPr>
          <a:xfrm>
            <a:off x="5570220" y="2286000"/>
            <a:ext cx="3966210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Paired formalizations</a:t>
            </a:r>
          </a:p>
        </p:txBody>
      </p:sp>
      <p:sp>
        <p:nvSpPr>
          <p:cNvPr id="97" name="• Same natural-language norm receives both formal versions.…"/>
          <p:cNvSpPr txBox="1"/>
          <p:nvPr/>
        </p:nvSpPr>
        <p:spPr>
          <a:xfrm>
            <a:off x="5570220" y="2724150"/>
            <a:ext cx="3966210" cy="1310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Same natural-language norm receives both formal versions.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Implication: X-&gt;O(Y), X-&gt;P(Y), X-&gt;F(Y).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Dyadic: O(Y|X), P(Y|X), F(Y|X).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This allows comparison rather than treating them as interchangeable.</a:t>
            </a:r>
          </a:p>
        </p:txBody>
      </p:sp>
      <p:sp>
        <p:nvSpPr>
          <p:cNvPr id="98" name="Rounded Rectangle"/>
          <p:cNvSpPr/>
          <p:nvPr/>
        </p:nvSpPr>
        <p:spPr>
          <a:xfrm>
            <a:off x="10344150" y="2095500"/>
            <a:ext cx="4000500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99" name="Rectangle"/>
          <p:cNvSpPr/>
          <p:nvPr/>
        </p:nvSpPr>
        <p:spPr>
          <a:xfrm>
            <a:off x="10344150" y="2095500"/>
            <a:ext cx="76200" cy="400050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0" name="Constitutive rules"/>
          <p:cNvSpPr txBox="1"/>
          <p:nvPr/>
        </p:nvSpPr>
        <p:spPr>
          <a:xfrm>
            <a:off x="10618469" y="2286000"/>
            <a:ext cx="348996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Constitutive rules</a:t>
            </a:r>
          </a:p>
        </p:txBody>
      </p:sp>
      <p:sp>
        <p:nvSpPr>
          <p:cNvPr id="101" name="• Stored separately as background domain knowledge.…"/>
          <p:cNvSpPr txBox="1"/>
          <p:nvPr/>
        </p:nvSpPr>
        <p:spPr>
          <a:xfrm>
            <a:off x="10618469" y="2724150"/>
            <a:ext cx="3489961" cy="1327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Stored separately as background domain knowledge.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Example: ∀y.shellfishMeal(y)-&gt;nonVegan(y).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Reduces redundant stakeholder rules.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Supports later reasoning over broader categories.</a:t>
            </a:r>
          </a:p>
        </p:txBody>
      </p:sp>
      <p:sp>
        <p:nvSpPr>
          <p:cNvPr id="102" name="Recommendation relation uses product and target user: recommend(System,y,x)"/>
          <p:cNvSpPr txBox="1"/>
          <p:nvPr/>
        </p:nvSpPr>
        <p:spPr>
          <a:xfrm>
            <a:off x="864869" y="6667500"/>
            <a:ext cx="1095756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Recommendation relation uses product and target user: recommend(System,y,x)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WORKING PIPELINE"/>
          <p:cNvSpPr txBox="1"/>
          <p:nvPr/>
        </p:nvSpPr>
        <p:spPr>
          <a:xfrm>
            <a:off x="864869" y="438150"/>
            <a:ext cx="7147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WORKING PIPELINE</a:t>
            </a:r>
          </a:p>
        </p:txBody>
      </p:sp>
      <p:sp>
        <p:nvSpPr>
          <p:cNvPr id="107" name="What the Files Do"/>
          <p:cNvSpPr txBox="1"/>
          <p:nvPr/>
        </p:nvSpPr>
        <p:spPr>
          <a:xfrm>
            <a:off x="864869" y="781050"/>
            <a:ext cx="103860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What the Files Do</a:t>
            </a:r>
          </a:p>
        </p:txBody>
      </p:sp>
      <p:sp>
        <p:nvSpPr>
          <p:cNvPr id="108" name="Line"/>
          <p:cNvSpPr/>
          <p:nvPr/>
        </p:nvSpPr>
        <p:spPr>
          <a:xfrm>
            <a:off x="819150" y="1428750"/>
            <a:ext cx="13601700" cy="0"/>
          </a:xfrm>
          <a:prstGeom prst="line">
            <a:avLst/>
          </a:prstGeom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9" name="Repository: llm-normative-recommender  |  Slide 5"/>
          <p:cNvSpPr txBox="1"/>
          <p:nvPr/>
        </p:nvSpPr>
        <p:spPr>
          <a:xfrm>
            <a:off x="864869" y="8096250"/>
            <a:ext cx="9433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29A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Repository: llm-normative-recommender  |  Slide 5</a:t>
            </a:r>
          </a:p>
        </p:txBody>
      </p:sp>
      <p:sp>
        <p:nvSpPr>
          <p:cNvPr id="110" name="Rounded Rectangle"/>
          <p:cNvSpPr/>
          <p:nvPr/>
        </p:nvSpPr>
        <p:spPr>
          <a:xfrm>
            <a:off x="819150" y="1952625"/>
            <a:ext cx="619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1" name="Rectangle"/>
          <p:cNvSpPr/>
          <p:nvPr/>
        </p:nvSpPr>
        <p:spPr>
          <a:xfrm>
            <a:off x="819150" y="1952625"/>
            <a:ext cx="76200" cy="120015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2" name="generate_revised_*.py"/>
          <p:cNvSpPr txBox="1"/>
          <p:nvPr/>
        </p:nvSpPr>
        <p:spPr>
          <a:xfrm>
            <a:off x="1093469" y="2143125"/>
            <a:ext cx="568071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generate_revised_*.py</a:t>
            </a:r>
          </a:p>
        </p:txBody>
      </p:sp>
      <p:sp>
        <p:nvSpPr>
          <p:cNvPr id="113" name="• Creates the 100-row stakeholder datasets using the revised paired-formula structure."/>
          <p:cNvSpPr txBox="1"/>
          <p:nvPr/>
        </p:nvSpPr>
        <p:spPr>
          <a:xfrm>
            <a:off x="1093469" y="2581275"/>
            <a:ext cx="5680711" cy="497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Creates the 100-row stakeholder datasets using the revised paired-formula structure.</a:t>
            </a:r>
          </a:p>
        </p:txBody>
      </p:sp>
      <p:sp>
        <p:nvSpPr>
          <p:cNvPr id="114" name="Rounded Rectangle"/>
          <p:cNvSpPr/>
          <p:nvPr/>
        </p:nvSpPr>
        <p:spPr>
          <a:xfrm>
            <a:off x="7581900" y="1952625"/>
            <a:ext cx="619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5" name="Rectangle"/>
          <p:cNvSpPr/>
          <p:nvPr/>
        </p:nvSpPr>
        <p:spPr>
          <a:xfrm>
            <a:off x="7581900" y="1952625"/>
            <a:ext cx="76200" cy="120015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6" name="generate_constitutive_rules.py"/>
          <p:cNvSpPr txBox="1"/>
          <p:nvPr/>
        </p:nvSpPr>
        <p:spPr>
          <a:xfrm>
            <a:off x="7856219" y="2143125"/>
            <a:ext cx="568071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generate_constitutive_rules.py</a:t>
            </a:r>
          </a:p>
        </p:txBody>
      </p:sp>
      <p:sp>
        <p:nvSpPr>
          <p:cNvPr id="117" name="• Creates the separate 50-row background domain rule dataset."/>
          <p:cNvSpPr txBox="1"/>
          <p:nvPr/>
        </p:nvSpPr>
        <p:spPr>
          <a:xfrm>
            <a:off x="7856219" y="2581275"/>
            <a:ext cx="5680711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Creates the separate 50-row background domain rule dataset.</a:t>
            </a:r>
          </a:p>
        </p:txBody>
      </p:sp>
      <p:sp>
        <p:nvSpPr>
          <p:cNvPr id="118" name="Rounded Rectangle"/>
          <p:cNvSpPr/>
          <p:nvPr/>
        </p:nvSpPr>
        <p:spPr>
          <a:xfrm>
            <a:off x="819150" y="3571875"/>
            <a:ext cx="619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19" name="Rectangle"/>
          <p:cNvSpPr/>
          <p:nvPr/>
        </p:nvSpPr>
        <p:spPr>
          <a:xfrm>
            <a:off x="819150" y="3571875"/>
            <a:ext cx="76200" cy="120015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0" name="validate_revised_datasets.py"/>
          <p:cNvSpPr txBox="1"/>
          <p:nvPr/>
        </p:nvSpPr>
        <p:spPr>
          <a:xfrm>
            <a:off x="1093469" y="3762375"/>
            <a:ext cx="568071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validate_revised_datasets.py</a:t>
            </a:r>
          </a:p>
        </p:txBody>
      </p:sp>
      <p:sp>
        <p:nvSpPr>
          <p:cNvPr id="121" name="• Checks schema, parseability, formula design constraints, and duplicates."/>
          <p:cNvSpPr txBox="1"/>
          <p:nvPr/>
        </p:nvSpPr>
        <p:spPr>
          <a:xfrm>
            <a:off x="1093469" y="4200525"/>
            <a:ext cx="5680711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Checks schema, parseability, formula design constraints, and duplicates.</a:t>
            </a:r>
          </a:p>
        </p:txBody>
      </p:sp>
      <p:sp>
        <p:nvSpPr>
          <p:cNvPr id="122" name="Rounded Rectangle"/>
          <p:cNvSpPr/>
          <p:nvPr/>
        </p:nvSpPr>
        <p:spPr>
          <a:xfrm>
            <a:off x="7581900" y="3571875"/>
            <a:ext cx="619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3" name="Rectangle"/>
          <p:cNvSpPr/>
          <p:nvPr/>
        </p:nvSpPr>
        <p:spPr>
          <a:xfrm>
            <a:off x="7581900" y="3571875"/>
            <a:ext cx="76200" cy="120015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4" name="generate_asts.py"/>
          <p:cNvSpPr txBox="1"/>
          <p:nvPr/>
        </p:nvSpPr>
        <p:spPr>
          <a:xfrm>
            <a:off x="7856219" y="3762375"/>
            <a:ext cx="568071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generate_asts.py</a:t>
            </a:r>
          </a:p>
        </p:txBody>
      </p:sp>
      <p:sp>
        <p:nvSpPr>
          <p:cNvPr id="125" name="• Parses formulas into JSON ASTs and normalized norm representations."/>
          <p:cNvSpPr txBox="1"/>
          <p:nvPr/>
        </p:nvSpPr>
        <p:spPr>
          <a:xfrm>
            <a:off x="7856219" y="4200525"/>
            <a:ext cx="5680711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Parses formulas into JSON ASTs and normalized norm representations.</a:t>
            </a:r>
          </a:p>
        </p:txBody>
      </p:sp>
      <p:sp>
        <p:nvSpPr>
          <p:cNvPr id="126" name="Rounded Rectangle"/>
          <p:cNvSpPr/>
          <p:nvPr/>
        </p:nvSpPr>
        <p:spPr>
          <a:xfrm>
            <a:off x="819150" y="5191125"/>
            <a:ext cx="619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7" name="Rectangle"/>
          <p:cNvSpPr/>
          <p:nvPr/>
        </p:nvSpPr>
        <p:spPr>
          <a:xfrm>
            <a:off x="819150" y="5191125"/>
            <a:ext cx="76200" cy="120015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8" name="backtranslate_roundtrip.py"/>
          <p:cNvSpPr txBox="1"/>
          <p:nvPr/>
        </p:nvSpPr>
        <p:spPr>
          <a:xfrm>
            <a:off x="1093469" y="5381625"/>
            <a:ext cx="568071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backtranslate_roundtrip.py</a:t>
            </a:r>
          </a:p>
        </p:txBody>
      </p:sp>
      <p:sp>
        <p:nvSpPr>
          <p:cNvPr id="129" name="• Turns normalized ASTs back into controlled natural language."/>
          <p:cNvSpPr txBox="1"/>
          <p:nvPr/>
        </p:nvSpPr>
        <p:spPr>
          <a:xfrm>
            <a:off x="1093469" y="5819775"/>
            <a:ext cx="5680711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Turns normalized ASTs back into controlled natural language.</a:t>
            </a:r>
          </a:p>
        </p:txBody>
      </p:sp>
      <p:sp>
        <p:nvSpPr>
          <p:cNvPr id="130" name="Rounded Rectangle"/>
          <p:cNvSpPr/>
          <p:nvPr/>
        </p:nvSpPr>
        <p:spPr>
          <a:xfrm>
            <a:off x="7581900" y="5191125"/>
            <a:ext cx="619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31" name="Rectangle"/>
          <p:cNvSpPr/>
          <p:nvPr/>
        </p:nvSpPr>
        <p:spPr>
          <a:xfrm>
            <a:off x="7581900" y="5191125"/>
            <a:ext cx="76200" cy="120015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2" name="evaluate_roundtrip.py"/>
          <p:cNvSpPr txBox="1"/>
          <p:nvPr/>
        </p:nvSpPr>
        <p:spPr>
          <a:xfrm>
            <a:off x="7856219" y="5381625"/>
            <a:ext cx="568071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evaluate_roundtrip.py</a:t>
            </a:r>
          </a:p>
        </p:txBody>
      </p:sp>
      <p:sp>
        <p:nvSpPr>
          <p:cNvPr id="133" name="• Adds automatic preservation scores and blank human-evaluation columns."/>
          <p:cNvSpPr txBox="1"/>
          <p:nvPr/>
        </p:nvSpPr>
        <p:spPr>
          <a:xfrm>
            <a:off x="7856219" y="5819775"/>
            <a:ext cx="5680711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• Adds automatic preservation scores and blank human-evaluation columns.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QUALITY CONTROL"/>
          <p:cNvSpPr txBox="1"/>
          <p:nvPr/>
        </p:nvSpPr>
        <p:spPr>
          <a:xfrm>
            <a:off x="864869" y="438150"/>
            <a:ext cx="7147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QUALITY CONTROL</a:t>
            </a:r>
          </a:p>
        </p:txBody>
      </p:sp>
      <p:sp>
        <p:nvSpPr>
          <p:cNvPr id="138" name="Validation Strategy"/>
          <p:cNvSpPr txBox="1"/>
          <p:nvPr/>
        </p:nvSpPr>
        <p:spPr>
          <a:xfrm>
            <a:off x="864869" y="781050"/>
            <a:ext cx="103860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Validation Strategy</a:t>
            </a:r>
          </a:p>
        </p:txBody>
      </p:sp>
      <p:sp>
        <p:nvSpPr>
          <p:cNvPr id="139" name="Line"/>
          <p:cNvSpPr/>
          <p:nvPr/>
        </p:nvSpPr>
        <p:spPr>
          <a:xfrm>
            <a:off x="819150" y="1428750"/>
            <a:ext cx="13601700" cy="0"/>
          </a:xfrm>
          <a:prstGeom prst="line">
            <a:avLst/>
          </a:prstGeom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0" name="Repository: llm-normative-recommender  |  Slide 6"/>
          <p:cNvSpPr txBox="1"/>
          <p:nvPr/>
        </p:nvSpPr>
        <p:spPr>
          <a:xfrm>
            <a:off x="864869" y="8096250"/>
            <a:ext cx="9433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29A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Repository: llm-normative-recommender  |  Slide 6</a:t>
            </a:r>
          </a:p>
        </p:txBody>
      </p:sp>
      <p:sp>
        <p:nvSpPr>
          <p:cNvPr id="141" name="Rounded Rectangle"/>
          <p:cNvSpPr/>
          <p:nvPr/>
        </p:nvSpPr>
        <p:spPr>
          <a:xfrm>
            <a:off x="819150" y="1885950"/>
            <a:ext cx="876300" cy="45720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>
            <a:solidFill>
              <a:srgbClr val="BBF7D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2" name="✓"/>
          <p:cNvSpPr txBox="1"/>
          <p:nvPr/>
        </p:nvSpPr>
        <p:spPr>
          <a:xfrm>
            <a:off x="864869" y="1952625"/>
            <a:ext cx="78486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chemeClr val="accent4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3" name="Schema"/>
          <p:cNvSpPr txBox="1"/>
          <p:nvPr/>
        </p:nvSpPr>
        <p:spPr>
          <a:xfrm>
            <a:off x="2026920" y="1914525"/>
            <a:ext cx="21945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Schema</a:t>
            </a:r>
          </a:p>
        </p:txBody>
      </p:sp>
      <p:sp>
        <p:nvSpPr>
          <p:cNvPr id="144" name="Expected columns for stakeholder and constitutive CSV files"/>
          <p:cNvSpPr txBox="1"/>
          <p:nvPr/>
        </p:nvSpPr>
        <p:spPr>
          <a:xfrm>
            <a:off x="4484370" y="1914525"/>
            <a:ext cx="8481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Expected columns for stakeholder and constitutive CSV files</a:t>
            </a:r>
          </a:p>
        </p:txBody>
      </p:sp>
      <p:sp>
        <p:nvSpPr>
          <p:cNvPr id="145" name="Rounded Rectangle"/>
          <p:cNvSpPr/>
          <p:nvPr/>
        </p:nvSpPr>
        <p:spPr>
          <a:xfrm>
            <a:off x="819150" y="2667000"/>
            <a:ext cx="876300" cy="45720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>
            <a:solidFill>
              <a:srgbClr val="BBF7D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6" name="✓"/>
          <p:cNvSpPr txBox="1"/>
          <p:nvPr/>
        </p:nvSpPr>
        <p:spPr>
          <a:xfrm>
            <a:off x="864869" y="2733675"/>
            <a:ext cx="78486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chemeClr val="accent4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7" name="Syntax"/>
          <p:cNvSpPr txBox="1"/>
          <p:nvPr/>
        </p:nvSpPr>
        <p:spPr>
          <a:xfrm>
            <a:off x="2026920" y="2695575"/>
            <a:ext cx="21945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Syntax</a:t>
            </a:r>
          </a:p>
        </p:txBody>
      </p:sp>
      <p:sp>
        <p:nvSpPr>
          <p:cNvPr id="148" name="Every formula parsed by grammar/grammar.lark using Lark"/>
          <p:cNvSpPr txBox="1"/>
          <p:nvPr/>
        </p:nvSpPr>
        <p:spPr>
          <a:xfrm>
            <a:off x="4484370" y="2695575"/>
            <a:ext cx="8481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Every formula parsed by grammar/grammar.lark using Lark</a:t>
            </a:r>
          </a:p>
        </p:txBody>
      </p:sp>
      <p:sp>
        <p:nvSpPr>
          <p:cNvPr id="149" name="Rounded Rectangle"/>
          <p:cNvSpPr/>
          <p:nvPr/>
        </p:nvSpPr>
        <p:spPr>
          <a:xfrm>
            <a:off x="819150" y="3448050"/>
            <a:ext cx="876300" cy="45720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>
            <a:solidFill>
              <a:srgbClr val="BBF7D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0" name="✓"/>
          <p:cNvSpPr txBox="1"/>
          <p:nvPr/>
        </p:nvSpPr>
        <p:spPr>
          <a:xfrm>
            <a:off x="864869" y="3514725"/>
            <a:ext cx="78486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chemeClr val="accent4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51" name="Formula shape"/>
          <p:cNvSpPr txBox="1"/>
          <p:nvPr/>
        </p:nvSpPr>
        <p:spPr>
          <a:xfrm>
            <a:off x="2026920" y="3476625"/>
            <a:ext cx="21945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Formula shape</a:t>
            </a:r>
          </a:p>
        </p:txBody>
      </p:sp>
      <p:sp>
        <p:nvSpPr>
          <p:cNvPr id="152" name="Implication formulas contain -&gt;; dyadic formulas contain |"/>
          <p:cNvSpPr txBox="1"/>
          <p:nvPr/>
        </p:nvSpPr>
        <p:spPr>
          <a:xfrm>
            <a:off x="4484370" y="3476625"/>
            <a:ext cx="8481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Implication formulas contain -&gt;; dyadic formulas contain |</a:t>
            </a:r>
          </a:p>
        </p:txBody>
      </p:sp>
      <p:sp>
        <p:nvSpPr>
          <p:cNvPr id="153" name="Rounded Rectangle"/>
          <p:cNvSpPr/>
          <p:nvPr/>
        </p:nvSpPr>
        <p:spPr>
          <a:xfrm>
            <a:off x="819150" y="4229100"/>
            <a:ext cx="876300" cy="45720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>
            <a:solidFill>
              <a:srgbClr val="BBF7D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4" name="✓"/>
          <p:cNvSpPr txBox="1"/>
          <p:nvPr/>
        </p:nvSpPr>
        <p:spPr>
          <a:xfrm>
            <a:off x="864869" y="4295775"/>
            <a:ext cx="78486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chemeClr val="accent4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55" name="Arity"/>
          <p:cNvSpPr txBox="1"/>
          <p:nvPr/>
        </p:nvSpPr>
        <p:spPr>
          <a:xfrm>
            <a:off x="2026920" y="4257675"/>
            <a:ext cx="21945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Arity</a:t>
            </a:r>
          </a:p>
        </p:txBody>
      </p:sp>
      <p:sp>
        <p:nvSpPr>
          <p:cNvPr id="156" name="Recommendations use recommend(System,y,x)"/>
          <p:cNvSpPr txBox="1"/>
          <p:nvPr/>
        </p:nvSpPr>
        <p:spPr>
          <a:xfrm>
            <a:off x="4484370" y="4257675"/>
            <a:ext cx="8481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Recommendations use recommend(System,y,x)</a:t>
            </a:r>
          </a:p>
        </p:txBody>
      </p:sp>
      <p:sp>
        <p:nvSpPr>
          <p:cNvPr id="157" name="Rounded Rectangle"/>
          <p:cNvSpPr/>
          <p:nvPr/>
        </p:nvSpPr>
        <p:spPr>
          <a:xfrm>
            <a:off x="819150" y="5010150"/>
            <a:ext cx="876300" cy="45720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>
            <a:solidFill>
              <a:srgbClr val="BBF7D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8" name="✓"/>
          <p:cNvSpPr txBox="1"/>
          <p:nvPr/>
        </p:nvSpPr>
        <p:spPr>
          <a:xfrm>
            <a:off x="864869" y="5076825"/>
            <a:ext cx="78486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chemeClr val="accent4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59" name="Variables"/>
          <p:cNvSpPr txBox="1"/>
          <p:nvPr/>
        </p:nvSpPr>
        <p:spPr>
          <a:xfrm>
            <a:off x="2026920" y="5038725"/>
            <a:ext cx="21945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Variables</a:t>
            </a:r>
          </a:p>
        </p:txBody>
      </p:sp>
      <p:sp>
        <p:nvSpPr>
          <p:cNvPr id="160" name="Stakeholder formulas start with ∀x.∀y.; constitutive rules start with ∀y."/>
          <p:cNvSpPr txBox="1"/>
          <p:nvPr/>
        </p:nvSpPr>
        <p:spPr>
          <a:xfrm>
            <a:off x="4484370" y="5038725"/>
            <a:ext cx="8481060" cy="297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Stakeholder formulas start with ∀x.∀y.; constitutive rules start with ∀y.</a:t>
            </a:r>
          </a:p>
        </p:txBody>
      </p:sp>
      <p:sp>
        <p:nvSpPr>
          <p:cNvPr id="161" name="Rounded Rectangle"/>
          <p:cNvSpPr/>
          <p:nvPr/>
        </p:nvSpPr>
        <p:spPr>
          <a:xfrm>
            <a:off x="819150" y="5791200"/>
            <a:ext cx="876300" cy="45720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>
            <a:solidFill>
              <a:srgbClr val="BBF7D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2" name="✓"/>
          <p:cNvSpPr txBox="1"/>
          <p:nvPr/>
        </p:nvSpPr>
        <p:spPr>
          <a:xfrm>
            <a:off x="864869" y="5857875"/>
            <a:ext cx="78486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chemeClr val="accent4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63" name="Uniqueness"/>
          <p:cNvSpPr txBox="1"/>
          <p:nvPr/>
        </p:nvSpPr>
        <p:spPr>
          <a:xfrm>
            <a:off x="2026920" y="5819775"/>
            <a:ext cx="21945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Uniqueness</a:t>
            </a:r>
          </a:p>
        </p:txBody>
      </p:sp>
      <p:sp>
        <p:nvSpPr>
          <p:cNvPr id="164" name="Duplicate ids, NL norms, and formulas are flagged"/>
          <p:cNvSpPr txBox="1"/>
          <p:nvPr/>
        </p:nvSpPr>
        <p:spPr>
          <a:xfrm>
            <a:off x="4484370" y="5819775"/>
            <a:ext cx="8481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Duplicate ids, NL norms, and formulas are flagged</a:t>
            </a:r>
          </a:p>
        </p:txBody>
      </p:sp>
      <p:sp>
        <p:nvSpPr>
          <p:cNvPr id="165" name="Rounded Rectangle"/>
          <p:cNvSpPr/>
          <p:nvPr/>
        </p:nvSpPr>
        <p:spPr>
          <a:xfrm>
            <a:off x="819150" y="6572250"/>
            <a:ext cx="876300" cy="45720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>
            <a:solidFill>
              <a:srgbClr val="BBF7D0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6" name="✓"/>
          <p:cNvSpPr txBox="1"/>
          <p:nvPr/>
        </p:nvSpPr>
        <p:spPr>
          <a:xfrm>
            <a:off x="864869" y="6638925"/>
            <a:ext cx="784861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chemeClr val="accent4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67" name="Old style guard"/>
          <p:cNvSpPr txBox="1"/>
          <p:nvPr/>
        </p:nvSpPr>
        <p:spPr>
          <a:xfrm>
            <a:off x="2026920" y="6600825"/>
            <a:ext cx="21945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Old style guard</a:t>
            </a:r>
          </a:p>
        </p:txBody>
      </p:sp>
      <p:sp>
        <p:nvSpPr>
          <p:cNvPr id="168" name="Rejects previous constant-based forms such as recommend(System,EnergyDrink)"/>
          <p:cNvSpPr txBox="1"/>
          <p:nvPr/>
        </p:nvSpPr>
        <p:spPr>
          <a:xfrm>
            <a:off x="4484370" y="6600825"/>
            <a:ext cx="8481060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Rejects previous constant-based forms such as recommend(System,EnergyDrink)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WHY THE AST MATTERS"/>
          <p:cNvSpPr txBox="1"/>
          <p:nvPr/>
        </p:nvSpPr>
        <p:spPr>
          <a:xfrm>
            <a:off x="864869" y="438150"/>
            <a:ext cx="7147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WHY THE AST MATTERS</a:t>
            </a:r>
          </a:p>
        </p:txBody>
      </p:sp>
      <p:sp>
        <p:nvSpPr>
          <p:cNvPr id="173" name="AST Generation"/>
          <p:cNvSpPr txBox="1"/>
          <p:nvPr/>
        </p:nvSpPr>
        <p:spPr>
          <a:xfrm>
            <a:off x="864869" y="781050"/>
            <a:ext cx="103860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AST Generation</a:t>
            </a:r>
          </a:p>
        </p:txBody>
      </p:sp>
      <p:sp>
        <p:nvSpPr>
          <p:cNvPr id="174" name="Line"/>
          <p:cNvSpPr/>
          <p:nvPr/>
        </p:nvSpPr>
        <p:spPr>
          <a:xfrm>
            <a:off x="819150" y="1428750"/>
            <a:ext cx="13601700" cy="0"/>
          </a:xfrm>
          <a:prstGeom prst="line">
            <a:avLst/>
          </a:prstGeom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5" name="Repository: llm-normative-recommender  |  Slide 7"/>
          <p:cNvSpPr txBox="1"/>
          <p:nvPr/>
        </p:nvSpPr>
        <p:spPr>
          <a:xfrm>
            <a:off x="864869" y="8096250"/>
            <a:ext cx="9433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29A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Repository: llm-normative-recommender  |  Slide 7</a:t>
            </a:r>
          </a:p>
        </p:txBody>
      </p:sp>
      <p:sp>
        <p:nvSpPr>
          <p:cNvPr id="176" name="Rounded Rectangle"/>
          <p:cNvSpPr/>
          <p:nvPr/>
        </p:nvSpPr>
        <p:spPr>
          <a:xfrm>
            <a:off x="819150" y="2381250"/>
            <a:ext cx="3429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7" name="Formula"/>
          <p:cNvSpPr txBox="1"/>
          <p:nvPr/>
        </p:nvSpPr>
        <p:spPr>
          <a:xfrm>
            <a:off x="1036319" y="2552700"/>
            <a:ext cx="2994662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Formula</a:t>
            </a:r>
          </a:p>
        </p:txBody>
      </p:sp>
      <p:sp>
        <p:nvSpPr>
          <p:cNvPr id="178" name="∀x.∀y.child(x)∧energyDrink(y)-&gt;F(recommend(System,y,x))"/>
          <p:cNvSpPr txBox="1"/>
          <p:nvPr/>
        </p:nvSpPr>
        <p:spPr>
          <a:xfrm>
            <a:off x="1036319" y="2895600"/>
            <a:ext cx="2994662" cy="40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∀x.∀y.child(x)∧energyDrink(y)-&gt;F(recommend(System,y,x))</a:t>
            </a:r>
          </a:p>
        </p:txBody>
      </p:sp>
      <p:sp>
        <p:nvSpPr>
          <p:cNvPr id="179" name="Line"/>
          <p:cNvSpPr/>
          <p:nvPr/>
        </p:nvSpPr>
        <p:spPr>
          <a:xfrm>
            <a:off x="4438650" y="2914650"/>
            <a:ext cx="90487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0" name="Rounded Rectangle"/>
          <p:cNvSpPr/>
          <p:nvPr/>
        </p:nvSpPr>
        <p:spPr>
          <a:xfrm>
            <a:off x="5581650" y="238125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>
            <a:solidFill>
              <a:srgbClr val="BFDBF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1" name="Parse tree"/>
          <p:cNvSpPr txBox="1"/>
          <p:nvPr/>
        </p:nvSpPr>
        <p:spPr>
          <a:xfrm>
            <a:off x="5798820" y="2552700"/>
            <a:ext cx="24231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Parse tree</a:t>
            </a:r>
          </a:p>
        </p:txBody>
      </p:sp>
      <p:sp>
        <p:nvSpPr>
          <p:cNvPr id="182" name="Grammar turns text into a structured tree"/>
          <p:cNvSpPr txBox="1"/>
          <p:nvPr/>
        </p:nvSpPr>
        <p:spPr>
          <a:xfrm>
            <a:off x="5798820" y="2895600"/>
            <a:ext cx="2423161" cy="2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Grammar turns text into a structured tree</a:t>
            </a:r>
          </a:p>
        </p:txBody>
      </p:sp>
      <p:sp>
        <p:nvSpPr>
          <p:cNvPr id="183" name="Line"/>
          <p:cNvSpPr/>
          <p:nvPr/>
        </p:nvSpPr>
        <p:spPr>
          <a:xfrm>
            <a:off x="8629650" y="2914650"/>
            <a:ext cx="90487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4" name="Rounded Rectangle"/>
          <p:cNvSpPr/>
          <p:nvPr/>
        </p:nvSpPr>
        <p:spPr>
          <a:xfrm>
            <a:off x="9772650" y="2381250"/>
            <a:ext cx="4000500" cy="1066800"/>
          </a:xfrm>
          <a:prstGeom prst="roundRect">
            <a:avLst>
              <a:gd name="adj" fmla="val 7143"/>
            </a:avLst>
          </a:prstGeom>
          <a:solidFill>
            <a:srgbClr val="CCFBF1"/>
          </a:solidFill>
          <a:ln>
            <a:solidFill>
              <a:srgbClr val="99F6E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5" name="Normalized AST"/>
          <p:cNvSpPr txBox="1"/>
          <p:nvPr/>
        </p:nvSpPr>
        <p:spPr>
          <a:xfrm>
            <a:off x="9989819" y="2552700"/>
            <a:ext cx="35661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Normalized AST</a:t>
            </a:r>
          </a:p>
        </p:txBody>
      </p:sp>
      <p:sp>
        <p:nvSpPr>
          <p:cNvPr id="186" name="modality=F; action=recommend(...); condition=[child, energyDrink]"/>
          <p:cNvSpPr txBox="1"/>
          <p:nvPr/>
        </p:nvSpPr>
        <p:spPr>
          <a:xfrm>
            <a:off x="9989819" y="2895600"/>
            <a:ext cx="3566161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modality=F; action=recommend(...); condition=[child, energyDrink]</a:t>
            </a:r>
          </a:p>
        </p:txBody>
      </p:sp>
      <p:sp>
        <p:nvSpPr>
          <p:cNvPr id="187" name="Rounded Rectangle"/>
          <p:cNvSpPr/>
          <p:nvPr/>
        </p:nvSpPr>
        <p:spPr>
          <a:xfrm>
            <a:off x="819150" y="4476750"/>
            <a:ext cx="55245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88" name="Rectangle"/>
          <p:cNvSpPr/>
          <p:nvPr/>
        </p:nvSpPr>
        <p:spPr>
          <a:xfrm>
            <a:off x="819150" y="4476750"/>
            <a:ext cx="76200" cy="238125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9" name="Why use it"/>
          <p:cNvSpPr txBox="1"/>
          <p:nvPr/>
        </p:nvSpPr>
        <p:spPr>
          <a:xfrm>
            <a:off x="1093469" y="4667250"/>
            <a:ext cx="501396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Why use it</a:t>
            </a:r>
          </a:p>
        </p:txBody>
      </p:sp>
      <p:sp>
        <p:nvSpPr>
          <p:cNvPr id="190" name="• Avoids fragile string matching over formulas.…"/>
          <p:cNvSpPr txBox="1"/>
          <p:nvPr/>
        </p:nvSpPr>
        <p:spPr>
          <a:xfrm>
            <a:off x="1093469" y="5105400"/>
            <a:ext cx="5013961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Avoids fragile string matching over formulas.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Separates modality, action, condition, and quantifiers.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Makes formula-type comparison possible.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Prepares conflict detection over normalized structures.</a:t>
            </a:r>
          </a:p>
        </p:txBody>
      </p:sp>
      <p:sp>
        <p:nvSpPr>
          <p:cNvPr id="191" name="Rounded Rectangle"/>
          <p:cNvSpPr/>
          <p:nvPr/>
        </p:nvSpPr>
        <p:spPr>
          <a:xfrm>
            <a:off x="7296150" y="4476750"/>
            <a:ext cx="55245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92" name="Rectangle"/>
          <p:cNvSpPr/>
          <p:nvPr/>
        </p:nvSpPr>
        <p:spPr>
          <a:xfrm>
            <a:off x="7296150" y="4476750"/>
            <a:ext cx="76200" cy="238125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3" name="Current outputs"/>
          <p:cNvSpPr txBox="1"/>
          <p:nvPr/>
        </p:nvSpPr>
        <p:spPr>
          <a:xfrm>
            <a:off x="7570469" y="4667250"/>
            <a:ext cx="501396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Current outputs</a:t>
            </a:r>
          </a:p>
        </p:txBody>
      </p:sp>
      <p:sp>
        <p:nvSpPr>
          <p:cNvPr id="194" name="• 100 User AST records.…"/>
          <p:cNvSpPr txBox="1"/>
          <p:nvPr/>
        </p:nvSpPr>
        <p:spPr>
          <a:xfrm>
            <a:off x="7570469" y="5105400"/>
            <a:ext cx="5013961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100 User AST records.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100 Food Ministry AST records.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100 Food Industry AST records.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50 constitutive rule AST records.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FORMAL LOGIC BACK TO NATURAL LANGUAGE"/>
          <p:cNvSpPr txBox="1"/>
          <p:nvPr/>
        </p:nvSpPr>
        <p:spPr>
          <a:xfrm>
            <a:off x="864869" y="438150"/>
            <a:ext cx="7147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FORMAL LOGIC BACK TO NATURAL LANGUAGE</a:t>
            </a:r>
          </a:p>
        </p:txBody>
      </p:sp>
      <p:sp>
        <p:nvSpPr>
          <p:cNvPr id="199" name="Round-Trip Consistency"/>
          <p:cNvSpPr txBox="1"/>
          <p:nvPr/>
        </p:nvSpPr>
        <p:spPr>
          <a:xfrm>
            <a:off x="864869" y="781050"/>
            <a:ext cx="103860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Round-Trip Consistency</a:t>
            </a:r>
          </a:p>
        </p:txBody>
      </p:sp>
      <p:sp>
        <p:nvSpPr>
          <p:cNvPr id="200" name="Line"/>
          <p:cNvSpPr/>
          <p:nvPr/>
        </p:nvSpPr>
        <p:spPr>
          <a:xfrm>
            <a:off x="819150" y="1428750"/>
            <a:ext cx="13601700" cy="0"/>
          </a:xfrm>
          <a:prstGeom prst="line">
            <a:avLst/>
          </a:prstGeom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1" name="Repository: llm-normative-recommender  |  Slide 8"/>
          <p:cNvSpPr txBox="1"/>
          <p:nvPr/>
        </p:nvSpPr>
        <p:spPr>
          <a:xfrm>
            <a:off x="864869" y="8096250"/>
            <a:ext cx="9433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29A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Repository: llm-normative-recommender  |  Slide 8</a:t>
            </a:r>
          </a:p>
        </p:txBody>
      </p:sp>
      <p:sp>
        <p:nvSpPr>
          <p:cNvPr id="202" name="Rounded Rectangle"/>
          <p:cNvSpPr/>
          <p:nvPr/>
        </p:nvSpPr>
        <p:spPr>
          <a:xfrm>
            <a:off x="819150" y="2333625"/>
            <a:ext cx="27146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3" name="Original NL"/>
          <p:cNvSpPr txBox="1"/>
          <p:nvPr/>
        </p:nvSpPr>
        <p:spPr>
          <a:xfrm>
            <a:off x="1036319" y="2505075"/>
            <a:ext cx="2280287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Original NL</a:t>
            </a:r>
          </a:p>
        </p:txBody>
      </p:sp>
      <p:sp>
        <p:nvSpPr>
          <p:cNvPr id="204" name="Children should not receive energy drink recommendations"/>
          <p:cNvSpPr txBox="1"/>
          <p:nvPr/>
        </p:nvSpPr>
        <p:spPr>
          <a:xfrm>
            <a:off x="1036319" y="2847975"/>
            <a:ext cx="2280287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Children should not receive energy drink recommendations</a:t>
            </a:r>
          </a:p>
        </p:txBody>
      </p:sp>
      <p:sp>
        <p:nvSpPr>
          <p:cNvPr id="205" name="Line"/>
          <p:cNvSpPr/>
          <p:nvPr/>
        </p:nvSpPr>
        <p:spPr>
          <a:xfrm>
            <a:off x="3724275" y="2867025"/>
            <a:ext cx="6667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6" name="Rounded Rectangle"/>
          <p:cNvSpPr/>
          <p:nvPr/>
        </p:nvSpPr>
        <p:spPr>
          <a:xfrm>
            <a:off x="4581525" y="2333625"/>
            <a:ext cx="2762250" cy="106680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>
            <a:solidFill>
              <a:srgbClr val="BFDBFE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7" name="Formula"/>
          <p:cNvSpPr txBox="1"/>
          <p:nvPr/>
        </p:nvSpPr>
        <p:spPr>
          <a:xfrm>
            <a:off x="4798695" y="2505075"/>
            <a:ext cx="232791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Formula</a:t>
            </a:r>
          </a:p>
        </p:txBody>
      </p:sp>
      <p:sp>
        <p:nvSpPr>
          <p:cNvPr id="208" name="∀x.∀y.child(x)∧energyDrink(y)-&gt;F(...)"/>
          <p:cNvSpPr txBox="1"/>
          <p:nvPr/>
        </p:nvSpPr>
        <p:spPr>
          <a:xfrm>
            <a:off x="4798695" y="2847975"/>
            <a:ext cx="2327911" cy="246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∀x.∀y.child(x)∧energyDrink(y)-&gt;F(...)</a:t>
            </a:r>
          </a:p>
        </p:txBody>
      </p:sp>
      <p:sp>
        <p:nvSpPr>
          <p:cNvPr id="209" name="Line"/>
          <p:cNvSpPr/>
          <p:nvPr/>
        </p:nvSpPr>
        <p:spPr>
          <a:xfrm>
            <a:off x="7534275" y="2867025"/>
            <a:ext cx="6667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0" name="Rounded Rectangle"/>
          <p:cNvSpPr/>
          <p:nvPr/>
        </p:nvSpPr>
        <p:spPr>
          <a:xfrm>
            <a:off x="8391525" y="2333625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CCFBF1"/>
          </a:solidFill>
          <a:ln>
            <a:solidFill>
              <a:srgbClr val="99F6E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1" name="AST"/>
          <p:cNvSpPr txBox="1"/>
          <p:nvPr/>
        </p:nvSpPr>
        <p:spPr>
          <a:xfrm>
            <a:off x="8608694" y="2505075"/>
            <a:ext cx="194691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AST</a:t>
            </a:r>
          </a:p>
        </p:txBody>
      </p:sp>
      <p:sp>
        <p:nvSpPr>
          <p:cNvPr id="212" name="normalized modality, action, condition"/>
          <p:cNvSpPr txBox="1"/>
          <p:nvPr/>
        </p:nvSpPr>
        <p:spPr>
          <a:xfrm>
            <a:off x="8608694" y="2847975"/>
            <a:ext cx="1946911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normalized modality, action, condition</a:t>
            </a:r>
          </a:p>
        </p:txBody>
      </p:sp>
      <p:sp>
        <p:nvSpPr>
          <p:cNvPr id="213" name="Line"/>
          <p:cNvSpPr/>
          <p:nvPr/>
        </p:nvSpPr>
        <p:spPr>
          <a:xfrm>
            <a:off x="10963275" y="2867025"/>
            <a:ext cx="6667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4" name="Rounded Rectangle"/>
          <p:cNvSpPr/>
          <p:nvPr/>
        </p:nvSpPr>
        <p:spPr>
          <a:xfrm>
            <a:off x="11820525" y="2333625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EF3C7"/>
          </a:solidFill>
          <a:ln>
            <a:solidFill>
              <a:srgbClr val="FDE68A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5" name="Backtranslation"/>
          <p:cNvSpPr txBox="1"/>
          <p:nvPr/>
        </p:nvSpPr>
        <p:spPr>
          <a:xfrm>
            <a:off x="12037694" y="2505075"/>
            <a:ext cx="24231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Backtranslation</a:t>
            </a:r>
          </a:p>
        </p:txBody>
      </p:sp>
      <p:sp>
        <p:nvSpPr>
          <p:cNvPr id="216" name="For every user and product, if ... then prohibited ..."/>
          <p:cNvSpPr txBox="1"/>
          <p:nvPr/>
        </p:nvSpPr>
        <p:spPr>
          <a:xfrm>
            <a:off x="12037694" y="2847975"/>
            <a:ext cx="2423161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For every user and product, if ... then prohibited ...</a:t>
            </a:r>
          </a:p>
        </p:txBody>
      </p:sp>
      <p:sp>
        <p:nvSpPr>
          <p:cNvPr id="217" name="Rounded Rectangle"/>
          <p:cNvSpPr/>
          <p:nvPr/>
        </p:nvSpPr>
        <p:spPr>
          <a:xfrm>
            <a:off x="819150" y="4762500"/>
            <a:ext cx="49530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18" name="Rectangle"/>
          <p:cNvSpPr/>
          <p:nvPr/>
        </p:nvSpPr>
        <p:spPr>
          <a:xfrm>
            <a:off x="819150" y="4762500"/>
            <a:ext cx="76200" cy="219075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9" name="Automatic score"/>
          <p:cNvSpPr txBox="1"/>
          <p:nvPr/>
        </p:nvSpPr>
        <p:spPr>
          <a:xfrm>
            <a:off x="1093469" y="4953000"/>
            <a:ext cx="444246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Automatic score</a:t>
            </a:r>
          </a:p>
        </p:txBody>
      </p:sp>
      <p:sp>
        <p:nvSpPr>
          <p:cNvPr id="220" name="• 2 = modality and key concepts preserved.…"/>
          <p:cNvSpPr txBox="1"/>
          <p:nvPr/>
        </p:nvSpPr>
        <p:spPr>
          <a:xfrm>
            <a:off x="1093469" y="5391150"/>
            <a:ext cx="4442461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2 = modality and key concepts preserved.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1 = partial preservation or uncertain modality.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0 = possible semantic mismatch; human review needed.</a:t>
            </a:r>
          </a:p>
        </p:txBody>
      </p:sp>
      <p:sp>
        <p:nvSpPr>
          <p:cNvPr id="221" name="Rounded Rectangle"/>
          <p:cNvSpPr/>
          <p:nvPr/>
        </p:nvSpPr>
        <p:spPr>
          <a:xfrm>
            <a:off x="6724650" y="4762500"/>
            <a:ext cx="62865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22" name="Rectangle"/>
          <p:cNvSpPr/>
          <p:nvPr/>
        </p:nvSpPr>
        <p:spPr>
          <a:xfrm>
            <a:off x="6724650" y="4762500"/>
            <a:ext cx="76200" cy="219075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3" name="Human evaluation"/>
          <p:cNvSpPr txBox="1"/>
          <p:nvPr/>
        </p:nvSpPr>
        <p:spPr>
          <a:xfrm>
            <a:off x="6998969" y="4953000"/>
            <a:ext cx="577596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Human evaluation</a:t>
            </a:r>
          </a:p>
        </p:txBody>
      </p:sp>
      <p:sp>
        <p:nvSpPr>
          <p:cNvPr id="224" name="• roundtrip_evaluated.csv contains blank human columns.…"/>
          <p:cNvSpPr txBox="1"/>
          <p:nvPr/>
        </p:nvSpPr>
        <p:spPr>
          <a:xfrm>
            <a:off x="6998969" y="5391150"/>
            <a:ext cx="5775961" cy="704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roundtrip_evaluated.csv contains blank human columns.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 reviewer can assign final semantic_score, error_type, and notes.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This supports the supervisor's NL→FOL→NL comparison suggestion.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WHAT HAS PASSED"/>
          <p:cNvSpPr txBox="1"/>
          <p:nvPr/>
        </p:nvSpPr>
        <p:spPr>
          <a:xfrm>
            <a:off x="864869" y="438150"/>
            <a:ext cx="7147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WHAT HAS PASSED</a:t>
            </a:r>
          </a:p>
        </p:txBody>
      </p:sp>
      <p:sp>
        <p:nvSpPr>
          <p:cNvPr id="229" name="Current Verification Results"/>
          <p:cNvSpPr txBox="1"/>
          <p:nvPr/>
        </p:nvSpPr>
        <p:spPr>
          <a:xfrm>
            <a:off x="864869" y="781050"/>
            <a:ext cx="103860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Current Verification Results</a:t>
            </a:r>
          </a:p>
        </p:txBody>
      </p:sp>
      <p:sp>
        <p:nvSpPr>
          <p:cNvPr id="230" name="Line"/>
          <p:cNvSpPr/>
          <p:nvPr/>
        </p:nvSpPr>
        <p:spPr>
          <a:xfrm>
            <a:off x="819150" y="1428750"/>
            <a:ext cx="13601700" cy="0"/>
          </a:xfrm>
          <a:prstGeom prst="line">
            <a:avLst/>
          </a:prstGeom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1" name="Repository: llm-normative-recommender  |  Slide 9"/>
          <p:cNvSpPr txBox="1"/>
          <p:nvPr/>
        </p:nvSpPr>
        <p:spPr>
          <a:xfrm>
            <a:off x="864869" y="8096250"/>
            <a:ext cx="9433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29A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Repository: llm-normative-recommender  |  Slide 9</a:t>
            </a:r>
          </a:p>
        </p:txBody>
      </p:sp>
      <p:sp>
        <p:nvSpPr>
          <p:cNvPr id="232" name="Rounded Rectangle"/>
          <p:cNvSpPr/>
          <p:nvPr/>
        </p:nvSpPr>
        <p:spPr>
          <a:xfrm>
            <a:off x="819150" y="2000250"/>
            <a:ext cx="238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33" name="100"/>
          <p:cNvSpPr txBox="1"/>
          <p:nvPr/>
        </p:nvSpPr>
        <p:spPr>
          <a:xfrm>
            <a:off x="1074419" y="2190750"/>
            <a:ext cx="1870712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234" name="User rows"/>
          <p:cNvSpPr txBox="1"/>
          <p:nvPr/>
        </p:nvSpPr>
        <p:spPr>
          <a:xfrm>
            <a:off x="1074419" y="2743200"/>
            <a:ext cx="187071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User rows</a:t>
            </a:r>
          </a:p>
        </p:txBody>
      </p:sp>
      <p:sp>
        <p:nvSpPr>
          <p:cNvPr id="235" name="Rounded Rectangle"/>
          <p:cNvSpPr/>
          <p:nvPr/>
        </p:nvSpPr>
        <p:spPr>
          <a:xfrm>
            <a:off x="3533775" y="2000250"/>
            <a:ext cx="238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36" name="100"/>
          <p:cNvSpPr txBox="1"/>
          <p:nvPr/>
        </p:nvSpPr>
        <p:spPr>
          <a:xfrm>
            <a:off x="3789045" y="2190750"/>
            <a:ext cx="1870711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chemeClr val="accent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237" name="Food Ministry rows"/>
          <p:cNvSpPr txBox="1"/>
          <p:nvPr/>
        </p:nvSpPr>
        <p:spPr>
          <a:xfrm>
            <a:off x="3789045" y="2743200"/>
            <a:ext cx="187071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Food Ministry rows</a:t>
            </a:r>
          </a:p>
        </p:txBody>
      </p:sp>
      <p:sp>
        <p:nvSpPr>
          <p:cNvPr id="238" name="Rounded Rectangle"/>
          <p:cNvSpPr/>
          <p:nvPr/>
        </p:nvSpPr>
        <p:spPr>
          <a:xfrm>
            <a:off x="6248400" y="2000250"/>
            <a:ext cx="238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39" name="100"/>
          <p:cNvSpPr txBox="1"/>
          <p:nvPr/>
        </p:nvSpPr>
        <p:spPr>
          <a:xfrm>
            <a:off x="6503669" y="2190750"/>
            <a:ext cx="1870711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chemeClr val="accent2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240" name="Food Industry rows"/>
          <p:cNvSpPr txBox="1"/>
          <p:nvPr/>
        </p:nvSpPr>
        <p:spPr>
          <a:xfrm>
            <a:off x="6503669" y="2743200"/>
            <a:ext cx="187071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Food Industry rows</a:t>
            </a:r>
          </a:p>
        </p:txBody>
      </p:sp>
      <p:sp>
        <p:nvSpPr>
          <p:cNvPr id="241" name="Rounded Rectangle"/>
          <p:cNvSpPr/>
          <p:nvPr/>
        </p:nvSpPr>
        <p:spPr>
          <a:xfrm>
            <a:off x="8963025" y="2000250"/>
            <a:ext cx="238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42" name="50"/>
          <p:cNvSpPr txBox="1"/>
          <p:nvPr/>
        </p:nvSpPr>
        <p:spPr>
          <a:xfrm>
            <a:off x="9218294" y="2190750"/>
            <a:ext cx="1870711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chemeClr val="accent4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50</a:t>
            </a:r>
          </a:p>
        </p:txBody>
      </p:sp>
      <p:sp>
        <p:nvSpPr>
          <p:cNvPr id="243" name="Constitutive rules"/>
          <p:cNvSpPr txBox="1"/>
          <p:nvPr/>
        </p:nvSpPr>
        <p:spPr>
          <a:xfrm>
            <a:off x="9218294" y="2743200"/>
            <a:ext cx="187071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Constitutive rules</a:t>
            </a:r>
          </a:p>
        </p:txBody>
      </p:sp>
      <p:sp>
        <p:nvSpPr>
          <p:cNvPr id="244" name="Rounded Rectangle"/>
          <p:cNvSpPr/>
          <p:nvPr/>
        </p:nvSpPr>
        <p:spPr>
          <a:xfrm>
            <a:off x="11677650" y="2000250"/>
            <a:ext cx="238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45" name="0"/>
          <p:cNvSpPr txBox="1"/>
          <p:nvPr/>
        </p:nvSpPr>
        <p:spPr>
          <a:xfrm>
            <a:off x="11932919" y="2190750"/>
            <a:ext cx="1870711" cy="56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100">
                <a:solidFill>
                  <a:schemeClr val="accent4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46" name="validation errors"/>
          <p:cNvSpPr txBox="1"/>
          <p:nvPr/>
        </p:nvSpPr>
        <p:spPr>
          <a:xfrm>
            <a:off x="11932919" y="2743200"/>
            <a:ext cx="187071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validation errors</a:t>
            </a:r>
          </a:p>
        </p:txBody>
      </p:sp>
      <p:sp>
        <p:nvSpPr>
          <p:cNvPr id="247" name="Round-trip automatic evaluation"/>
          <p:cNvSpPr txBox="1"/>
          <p:nvPr/>
        </p:nvSpPr>
        <p:spPr>
          <a:xfrm>
            <a:off x="864869" y="4095750"/>
            <a:ext cx="6576061" cy="383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9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Round-trip automatic evaluation</a:t>
            </a:r>
          </a:p>
        </p:txBody>
      </p:sp>
      <p:sp>
        <p:nvSpPr>
          <p:cNvPr id="248" name="Score 2"/>
          <p:cNvSpPr txBox="1"/>
          <p:nvPr/>
        </p:nvSpPr>
        <p:spPr>
          <a:xfrm>
            <a:off x="864869" y="4838700"/>
            <a:ext cx="9563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chemeClr val="accent4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Score 2</a:t>
            </a:r>
          </a:p>
        </p:txBody>
      </p:sp>
      <p:sp>
        <p:nvSpPr>
          <p:cNvPr id="249" name="Rounded Rectangle"/>
          <p:cNvSpPr/>
          <p:nvPr/>
        </p:nvSpPr>
        <p:spPr>
          <a:xfrm>
            <a:off x="2057400" y="4762500"/>
            <a:ext cx="7239000" cy="361950"/>
          </a:xfrm>
          <a:prstGeom prst="roundRect">
            <a:avLst>
              <a:gd name="adj" fmla="val 15789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0" name="Rounded Rectangle"/>
          <p:cNvSpPr/>
          <p:nvPr/>
        </p:nvSpPr>
        <p:spPr>
          <a:xfrm>
            <a:off x="2057400" y="4762500"/>
            <a:ext cx="6490971" cy="361950"/>
          </a:xfrm>
          <a:prstGeom prst="roundRect">
            <a:avLst>
              <a:gd name="adj" fmla="val 15789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1" name="538"/>
          <p:cNvSpPr txBox="1"/>
          <p:nvPr/>
        </p:nvSpPr>
        <p:spPr>
          <a:xfrm>
            <a:off x="9627869" y="4819650"/>
            <a:ext cx="6705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538</a:t>
            </a:r>
          </a:p>
        </p:txBody>
      </p:sp>
      <p:sp>
        <p:nvSpPr>
          <p:cNvPr id="252" name="Score 1"/>
          <p:cNvSpPr txBox="1"/>
          <p:nvPr/>
        </p:nvSpPr>
        <p:spPr>
          <a:xfrm>
            <a:off x="864869" y="5562600"/>
            <a:ext cx="9563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chemeClr val="accent2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Score 1</a:t>
            </a:r>
          </a:p>
        </p:txBody>
      </p:sp>
      <p:sp>
        <p:nvSpPr>
          <p:cNvPr id="253" name="Rounded Rectangle"/>
          <p:cNvSpPr/>
          <p:nvPr/>
        </p:nvSpPr>
        <p:spPr>
          <a:xfrm>
            <a:off x="2057400" y="5486400"/>
            <a:ext cx="7239000" cy="361950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4" name="Rounded Rectangle"/>
          <p:cNvSpPr/>
          <p:nvPr/>
        </p:nvSpPr>
        <p:spPr>
          <a:xfrm>
            <a:off x="2057400" y="5486400"/>
            <a:ext cx="482600" cy="361950"/>
          </a:xfrm>
          <a:prstGeom prst="roundRect">
            <a:avLst>
              <a:gd name="adj" fmla="val 15789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5" name="40"/>
          <p:cNvSpPr txBox="1"/>
          <p:nvPr/>
        </p:nvSpPr>
        <p:spPr>
          <a:xfrm>
            <a:off x="9627869" y="5543550"/>
            <a:ext cx="6705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40</a:t>
            </a:r>
          </a:p>
        </p:txBody>
      </p:sp>
      <p:sp>
        <p:nvSpPr>
          <p:cNvPr id="256" name="Score 0"/>
          <p:cNvSpPr txBox="1"/>
          <p:nvPr/>
        </p:nvSpPr>
        <p:spPr>
          <a:xfrm>
            <a:off x="864869" y="6286500"/>
            <a:ext cx="9563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chemeClr val="accent5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Score 0</a:t>
            </a:r>
          </a:p>
        </p:txBody>
      </p:sp>
      <p:sp>
        <p:nvSpPr>
          <p:cNvPr id="257" name="Rounded Rectangle"/>
          <p:cNvSpPr/>
          <p:nvPr/>
        </p:nvSpPr>
        <p:spPr>
          <a:xfrm>
            <a:off x="2057400" y="6210300"/>
            <a:ext cx="7239000" cy="361950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8" name="Rounded Rectangle"/>
          <p:cNvSpPr/>
          <p:nvPr/>
        </p:nvSpPr>
        <p:spPr>
          <a:xfrm>
            <a:off x="2057400" y="6210300"/>
            <a:ext cx="265430" cy="361950"/>
          </a:xfrm>
          <a:prstGeom prst="roundRect">
            <a:avLst>
              <a:gd name="adj" fmla="val 21531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9" name="22"/>
          <p:cNvSpPr txBox="1"/>
          <p:nvPr/>
        </p:nvSpPr>
        <p:spPr>
          <a:xfrm>
            <a:off x="9627869" y="6267450"/>
            <a:ext cx="670561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260" name="Rounded Rectangle"/>
          <p:cNvSpPr/>
          <p:nvPr/>
        </p:nvSpPr>
        <p:spPr>
          <a:xfrm>
            <a:off x="10725150" y="4495800"/>
            <a:ext cx="34290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61" name="Rectangle"/>
          <p:cNvSpPr/>
          <p:nvPr/>
        </p:nvSpPr>
        <p:spPr>
          <a:xfrm>
            <a:off x="10725150" y="4495800"/>
            <a:ext cx="76200" cy="209550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2" name="Important interpretation"/>
          <p:cNvSpPr txBox="1"/>
          <p:nvPr/>
        </p:nvSpPr>
        <p:spPr>
          <a:xfrm>
            <a:off x="10999469" y="4686300"/>
            <a:ext cx="291846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Important interpretation</a:t>
            </a:r>
          </a:p>
        </p:txBody>
      </p:sp>
      <p:sp>
        <p:nvSpPr>
          <p:cNvPr id="263" name="• The automatic score is a triage aid, not the final thesis result.…"/>
          <p:cNvSpPr txBox="1"/>
          <p:nvPr/>
        </p:nvSpPr>
        <p:spPr>
          <a:xfrm>
            <a:off x="10999469" y="5124450"/>
            <a:ext cx="2918461" cy="1310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The automatic score is a triage aid, not the final thesis result.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Score 0 rows are candidates for human inspection.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The parser validation is already clean: 650 formulas, 0 errors.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OADMAP TOWARD THESIS CONTRIBUTION"/>
          <p:cNvSpPr txBox="1"/>
          <p:nvPr/>
        </p:nvSpPr>
        <p:spPr>
          <a:xfrm>
            <a:off x="864869" y="438150"/>
            <a:ext cx="7147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ROADMAP TOWARD THESIS CONTRIBUTION</a:t>
            </a:r>
          </a:p>
        </p:txBody>
      </p:sp>
      <p:sp>
        <p:nvSpPr>
          <p:cNvPr id="268" name="Next Work to Do"/>
          <p:cNvSpPr txBox="1"/>
          <p:nvPr/>
        </p:nvSpPr>
        <p:spPr>
          <a:xfrm>
            <a:off x="864869" y="781050"/>
            <a:ext cx="10386061" cy="47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5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Next Work to Do</a:t>
            </a:r>
          </a:p>
        </p:txBody>
      </p:sp>
      <p:sp>
        <p:nvSpPr>
          <p:cNvPr id="269" name="Line"/>
          <p:cNvSpPr/>
          <p:nvPr/>
        </p:nvSpPr>
        <p:spPr>
          <a:xfrm>
            <a:off x="819150" y="1428750"/>
            <a:ext cx="13601700" cy="0"/>
          </a:xfrm>
          <a:prstGeom prst="line">
            <a:avLst/>
          </a:prstGeom>
          <a:ln>
            <a:solidFill>
              <a:srgbClr val="D9E2E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0" name="Repository: llm-normative-recommender  |  Slide 10"/>
          <p:cNvSpPr txBox="1"/>
          <p:nvPr/>
        </p:nvSpPr>
        <p:spPr>
          <a:xfrm>
            <a:off x="864869" y="8096250"/>
            <a:ext cx="943356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29AB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Repository: llm-normative-recommender  |  Slide 10</a:t>
            </a:r>
          </a:p>
        </p:txBody>
      </p:sp>
      <p:sp>
        <p:nvSpPr>
          <p:cNvPr id="271" name="Rounded Rectangle"/>
          <p:cNvSpPr/>
          <p:nvPr/>
        </p:nvSpPr>
        <p:spPr>
          <a:xfrm>
            <a:off x="819150" y="2047875"/>
            <a:ext cx="390525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72" name="Rectangle"/>
          <p:cNvSpPr/>
          <p:nvPr/>
        </p:nvSpPr>
        <p:spPr>
          <a:xfrm>
            <a:off x="819150" y="2047875"/>
            <a:ext cx="76200" cy="257175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3" name="1. Human round-trip review"/>
          <p:cNvSpPr txBox="1"/>
          <p:nvPr/>
        </p:nvSpPr>
        <p:spPr>
          <a:xfrm>
            <a:off x="1093469" y="2238375"/>
            <a:ext cx="339471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1. Human round-trip review</a:t>
            </a:r>
          </a:p>
        </p:txBody>
      </p:sp>
      <p:sp>
        <p:nvSpPr>
          <p:cNvPr id="274" name="• Ask Viktor or another reviewer to score selected rows.…"/>
          <p:cNvSpPr txBox="1"/>
          <p:nvPr/>
        </p:nvSpPr>
        <p:spPr>
          <a:xfrm>
            <a:off x="1093469" y="2676525"/>
            <a:ext cx="3394711" cy="1107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Ask Viktor or another reviewer to score selected rows.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Compare human scores with automatic score labels.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Record common translation loss types.</a:t>
            </a:r>
          </a:p>
        </p:txBody>
      </p:sp>
      <p:sp>
        <p:nvSpPr>
          <p:cNvPr id="275" name="Rounded Rectangle"/>
          <p:cNvSpPr/>
          <p:nvPr/>
        </p:nvSpPr>
        <p:spPr>
          <a:xfrm>
            <a:off x="5581650" y="2047875"/>
            <a:ext cx="409575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76" name="Rectangle"/>
          <p:cNvSpPr/>
          <p:nvPr/>
        </p:nvSpPr>
        <p:spPr>
          <a:xfrm>
            <a:off x="5581650" y="2047875"/>
            <a:ext cx="76200" cy="257175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accent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7" name="2. Conflict detection"/>
          <p:cNvSpPr txBox="1"/>
          <p:nvPr/>
        </p:nvSpPr>
        <p:spPr>
          <a:xfrm>
            <a:off x="5855970" y="2238375"/>
            <a:ext cx="3585210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2. Conflict detection</a:t>
            </a:r>
          </a:p>
        </p:txBody>
      </p:sp>
      <p:sp>
        <p:nvSpPr>
          <p:cNvPr id="278" name="• Define conflict rules over normalized AST fields.…"/>
          <p:cNvSpPr txBox="1"/>
          <p:nvPr/>
        </p:nvSpPr>
        <p:spPr>
          <a:xfrm>
            <a:off x="5855970" y="2676525"/>
            <a:ext cx="3585210" cy="1310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Define conflict rules over normalized AST fields.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Compare NL-based LLM conflict detection with logic-based detection.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Use constitutive rules to lift specific foods into broader categories.</a:t>
            </a:r>
          </a:p>
        </p:txBody>
      </p:sp>
      <p:sp>
        <p:nvSpPr>
          <p:cNvPr id="279" name="Rounded Rectangle"/>
          <p:cNvSpPr/>
          <p:nvPr/>
        </p:nvSpPr>
        <p:spPr>
          <a:xfrm>
            <a:off x="10439400" y="2047875"/>
            <a:ext cx="390525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>
            <a:solidFill>
              <a:srgbClr val="D9E2EC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80" name="Rectangle"/>
          <p:cNvSpPr/>
          <p:nvPr/>
        </p:nvSpPr>
        <p:spPr>
          <a:xfrm>
            <a:off x="10439400" y="2047875"/>
            <a:ext cx="76200" cy="257175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1" name="3. Experimental setup"/>
          <p:cNvSpPr txBox="1"/>
          <p:nvPr/>
        </p:nvSpPr>
        <p:spPr>
          <a:xfrm>
            <a:off x="10713719" y="2238375"/>
            <a:ext cx="3394711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0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3. Experimental setup</a:t>
            </a:r>
          </a:p>
        </p:txBody>
      </p:sp>
      <p:sp>
        <p:nvSpPr>
          <p:cNvPr id="282" name="• Run one or more LLMs on the same fixed grammar.…"/>
          <p:cNvSpPr txBox="1"/>
          <p:nvPr/>
        </p:nvSpPr>
        <p:spPr>
          <a:xfrm>
            <a:off x="10713719" y="2676525"/>
            <a:ext cx="3394711" cy="1310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Run one or more LLMs on the same fixed grammar.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Measure syntactic validity, semantic preservation, and conflict accuracy.</a:t>
            </a:r>
          </a:p>
          <a:p>
            <a:pPr>
              <a:defRPr sz="1300">
                <a:solidFill>
                  <a:schemeClr val="accent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Report limits: generated data, prompt sensitivity, and formal semantics.</a:t>
            </a:r>
          </a:p>
        </p:txBody>
      </p:sp>
      <p:sp>
        <p:nvSpPr>
          <p:cNvPr id="283" name="Rounded Rectangle"/>
          <p:cNvSpPr/>
          <p:nvPr/>
        </p:nvSpPr>
        <p:spPr>
          <a:xfrm>
            <a:off x="819150" y="5429250"/>
            <a:ext cx="12858750" cy="1047750"/>
          </a:xfrm>
          <a:prstGeom prst="roundRect">
            <a:avLst>
              <a:gd name="adj" fmla="val 7273"/>
            </a:avLst>
          </a:prstGeom>
          <a:solidFill>
            <a:srgbClr val="CCFBF1"/>
          </a:solidFill>
          <a:ln>
            <a:solidFill>
              <a:srgbClr val="99F6E4"/>
            </a:solidFill>
          </a:ln>
          <a:effectLst>
            <a:outerShdw sx="100000" sy="100000" kx="0" ky="0" algn="b" rotWithShape="0" blurRad="25400" dist="9525" dir="540000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284" name="Immediate next step"/>
          <p:cNvSpPr txBox="1"/>
          <p:nvPr/>
        </p:nvSpPr>
        <p:spPr>
          <a:xfrm>
            <a:off x="1131569" y="5657850"/>
            <a:ext cx="238506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chemeClr val="accent1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Immediate next step</a:t>
            </a:r>
          </a:p>
        </p:txBody>
      </p:sp>
      <p:sp>
        <p:nvSpPr>
          <p:cNvPr id="285" name="Turn the AST normalization into a first conflict-detection script, then validate it on a small manually inspected conflict set."/>
          <p:cNvSpPr txBox="1"/>
          <p:nvPr/>
        </p:nvSpPr>
        <p:spPr>
          <a:xfrm>
            <a:off x="3817620" y="5657850"/>
            <a:ext cx="886206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Turn the AST normalization into a first conflict-detection script, then validate it on a small manually inspected conflict set.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F766E"/>
      </a:accent1>
      <a:accent2>
        <a:srgbClr val="B45309"/>
      </a:accent2>
      <a:accent3>
        <a:srgbClr val="2563EB"/>
      </a:accent3>
      <a:accent4>
        <a:srgbClr val="15803D"/>
      </a:accent4>
      <a:accent5>
        <a:srgbClr val="B91C1C"/>
      </a:accent5>
      <a:accent6>
        <a:srgbClr val="486581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F766E"/>
      </a:accent1>
      <a:accent2>
        <a:srgbClr val="B45309"/>
      </a:accent2>
      <a:accent3>
        <a:srgbClr val="2563EB"/>
      </a:accent3>
      <a:accent4>
        <a:srgbClr val="15803D"/>
      </a:accent4>
      <a:accent5>
        <a:srgbClr val="B91C1C"/>
      </a:accent5>
      <a:accent6>
        <a:srgbClr val="486581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