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7ad3924e44c82" /><Relationship Type="http://schemas.openxmlformats.org/officeDocument/2006/relationships/extended-properties" Target="/docProps/app.xml" Id="R6479d9e26c014365" /><Relationship Type="http://schemas.openxmlformats.org/officeDocument/2006/relationships/officeDocument" Target="/ppt/presentation.xml" Id="R9d7c2a555f74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a5784074f4212"/>
  </p:sldMasterIdLst>
  <p:notesMasterIdLst>
    <p:notesMasterId xmlns:r="http://schemas.openxmlformats.org/officeDocument/2006/relationships" r:id="R4a49eaae490a4f86"/>
  </p:notesMasterIdLst>
  <p:sldIdLst>
    <p:sldId xmlns:r="http://schemas.openxmlformats.org/officeDocument/2006/relationships" id="256" r:id="R03aa2110de5c44e9"/>
    <p:sldId xmlns:r="http://schemas.openxmlformats.org/officeDocument/2006/relationships" id="257" r:id="R0bffe66023ab4188"/>
    <p:sldId xmlns:r="http://schemas.openxmlformats.org/officeDocument/2006/relationships" id="258" r:id="R84808672f9f54893"/>
    <p:sldId xmlns:r="http://schemas.openxmlformats.org/officeDocument/2006/relationships" id="259" r:id="R7c2a352140a049a3"/>
    <p:sldId xmlns:r="http://schemas.openxmlformats.org/officeDocument/2006/relationships" id="260" r:id="Rf75fb4a917184d73"/>
    <p:sldId xmlns:r="http://schemas.openxmlformats.org/officeDocument/2006/relationships" id="261" r:id="Rc5b5b2841970464b"/>
    <p:sldId xmlns:r="http://schemas.openxmlformats.org/officeDocument/2006/relationships" id="262" r:id="Rc47833a3c43646ad"/>
    <p:sldId xmlns:r="http://schemas.openxmlformats.org/officeDocument/2006/relationships" id="263" r:id="Ra2710242406444ad"/>
    <p:sldId xmlns:r="http://schemas.openxmlformats.org/officeDocument/2006/relationships" id="264" r:id="R12385597a07e4acb"/>
    <p:sldId xmlns:r="http://schemas.openxmlformats.org/officeDocument/2006/relationships" id="265" r:id="R69ee3dc71f7f460d"/>
    <p:sldId xmlns:r="http://schemas.openxmlformats.org/officeDocument/2006/relationships" id="266" r:id="R10c5655d8d154e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a2533d5a6b4205" /><Relationship Type="http://schemas.openxmlformats.org/officeDocument/2006/relationships/slideMaster" Target="/ppt/slideMasters/slideMaster1.xml" Id="R784a5784074f4212" /><Relationship Type="http://schemas.openxmlformats.org/officeDocument/2006/relationships/notesMaster" Target="/ppt/notesMasters/notesMaster1.xml" Id="R4a49eaae490a4f86" /><Relationship Type="http://schemas.openxmlformats.org/officeDocument/2006/relationships/presProps" Target="/ppt/presProps.xml" Id="Rbf62239df47948e1" /><Relationship Type="http://schemas.openxmlformats.org/officeDocument/2006/relationships/tableStyles" Target="/ppt/tableStyles.xml" Id="R0f75d160ddbd4a22" /><Relationship Type="http://schemas.openxmlformats.org/officeDocument/2006/relationships/slide" Target="/ppt/slides/slide1.xml" Id="R03aa2110de5c44e9" /><Relationship Type="http://schemas.openxmlformats.org/officeDocument/2006/relationships/slide" Target="/ppt/slides/slide2.xml" Id="R0bffe66023ab4188" /><Relationship Type="http://schemas.openxmlformats.org/officeDocument/2006/relationships/slide" Target="/ppt/slides/slide3.xml" Id="R84808672f9f54893" /><Relationship Type="http://schemas.openxmlformats.org/officeDocument/2006/relationships/slide" Target="/ppt/slides/slide4.xml" Id="R7c2a352140a049a3" /><Relationship Type="http://schemas.openxmlformats.org/officeDocument/2006/relationships/slide" Target="/ppt/slides/slide5.xml" Id="Rf75fb4a917184d73" /><Relationship Type="http://schemas.openxmlformats.org/officeDocument/2006/relationships/slide" Target="/ppt/slides/slide6.xml" Id="Rc5b5b2841970464b" /><Relationship Type="http://schemas.openxmlformats.org/officeDocument/2006/relationships/slide" Target="/ppt/slides/slide7.xml" Id="Rc47833a3c43646ad" /><Relationship Type="http://schemas.openxmlformats.org/officeDocument/2006/relationships/slide" Target="/ppt/slides/slide8.xml" Id="Ra2710242406444ad" /><Relationship Type="http://schemas.openxmlformats.org/officeDocument/2006/relationships/slide" Target="/ppt/slides/slide9.xml" Id="R12385597a07e4acb" /><Relationship Type="http://schemas.openxmlformats.org/officeDocument/2006/relationships/slide" Target="/ppt/slides/slide10.xml" Id="R69ee3dc71f7f460d" /><Relationship Type="http://schemas.openxmlformats.org/officeDocument/2006/relationships/slide" Target="/ppt/slides/slide11.xml" Id="R10c5655d8d154e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356c973bd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38bea5f6f4f69" /><Relationship Type="http://schemas.openxmlformats.org/officeDocument/2006/relationships/notesMaster" Target="/ppt/notesMasters/notesMaster1.xml" Id="R02fdf5d56730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8bc12738394b06" /><Relationship Type="http://schemas.openxmlformats.org/officeDocument/2006/relationships/notesMaster" Target="/ppt/notesMasters/notesMaster1.xml" Id="R81a061ecd009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7cc29b7a244ce" /><Relationship Type="http://schemas.openxmlformats.org/officeDocument/2006/relationships/notesMaster" Target="/ppt/notesMasters/notesMaster1.xml" Id="R019ebba913df4e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fe7a7161ea439d" /><Relationship Type="http://schemas.openxmlformats.org/officeDocument/2006/relationships/notesMaster" Target="/ppt/notesMasters/notesMaster1.xml" Id="Rec7800f27d97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7567623d254006" /><Relationship Type="http://schemas.openxmlformats.org/officeDocument/2006/relationships/notesMaster" Target="/ppt/notesMasters/notesMaster1.xml" Id="Rf3e3fca032e8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a7e6fb2e34855" /><Relationship Type="http://schemas.openxmlformats.org/officeDocument/2006/relationships/notesMaster" Target="/ppt/notesMasters/notesMaster1.xml" Id="Rafe27a8e11d24c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2e2dbe77084b22" /><Relationship Type="http://schemas.openxmlformats.org/officeDocument/2006/relationships/notesMaster" Target="/ppt/notesMasters/notesMaster1.xml" Id="Rbc6986738cef48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e6c37fbc649e1" /><Relationship Type="http://schemas.openxmlformats.org/officeDocument/2006/relationships/notesMaster" Target="/ppt/notesMasters/notesMaster1.xml" Id="Re8bed01ca655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fa087da664ec3" /><Relationship Type="http://schemas.openxmlformats.org/officeDocument/2006/relationships/notesMaster" Target="/ppt/notesMasters/notesMaster1.xml" Id="Rdff9fba74a7849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825176d6e644b6" /><Relationship Type="http://schemas.openxmlformats.org/officeDocument/2006/relationships/notesMaster" Target="/ppt/notesMasters/notesMaster1.xml" Id="Rd1bdf0a309d449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9e7b16c9249da" /><Relationship Type="http://schemas.openxmlformats.org/officeDocument/2006/relationships/notesMaster" Target="/ppt/notesMasters/notesMaster1.xml" Id="R61b570cc8483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c59fb93a3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f3a8fd3ee460e" /><Relationship Type="http://schemas.openxmlformats.org/officeDocument/2006/relationships/slideLayout" Target="/ppt/slideLayouts/slideLayout1.xml" Id="R4a57c110f438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57c110f438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f4a1dd27a4118" /><Relationship Type="http://schemas.openxmlformats.org/officeDocument/2006/relationships/notesSlide" Target="/ppt/notesSlides/notesSlide1.xml" Id="R6b6df3aec41849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3018e3a634ff3" /><Relationship Type="http://schemas.openxmlformats.org/officeDocument/2006/relationships/notesSlide" Target="/ppt/notesSlides/notesSlide2.xml" Id="Rafa0721e6c80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53416d010425f" /><Relationship Type="http://schemas.openxmlformats.org/officeDocument/2006/relationships/notesSlide" Target="/ppt/notesSlides/notesSlide3.xml" Id="R808e608a988a41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9aebb59e4378" /><Relationship Type="http://schemas.openxmlformats.org/officeDocument/2006/relationships/notesSlide" Target="/ppt/notesSlides/notesSlide4.xml" Id="R9600000bf1ed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a266078ce4cd8" /><Relationship Type="http://schemas.openxmlformats.org/officeDocument/2006/relationships/notesSlide" Target="/ppt/notesSlides/notesSlide5.xml" Id="R3f34dc51d9db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71d0f2d2445ac" /><Relationship Type="http://schemas.openxmlformats.org/officeDocument/2006/relationships/chart" Target="/ppt/slides/charts/chart1.xml" Id="R0aa9da8a5c15467c" /><Relationship Type="http://schemas.openxmlformats.org/officeDocument/2006/relationships/notesSlide" Target="/ppt/notesSlides/notesSlide6.xml" Id="Rb6936cdaab3442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24b3fc1994ea2" /><Relationship Type="http://schemas.openxmlformats.org/officeDocument/2006/relationships/notesSlide" Target="/ppt/notesSlides/notesSlide7.xml" Id="Rdb4b6aba221841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f0237bec44c4a" /><Relationship Type="http://schemas.openxmlformats.org/officeDocument/2006/relationships/notesSlide" Target="/ppt/notesSlides/notesSlide8.xml" Id="R827256b5340a41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5b394aa014f33" /><Relationship Type="http://schemas.openxmlformats.org/officeDocument/2006/relationships/notesSlide" Target="/ppt/notesSlides/notesSlide9.xml" Id="Rbf29521cde4b43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8554be1014aa6" /><Relationship Type="http://schemas.openxmlformats.org/officeDocument/2006/relationships/notesSlide" Target="/ppt/notesSlides/notesSlide10.xml" Id="R52dfefe8360b42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23035d127432c" /><Relationship Type="http://schemas.openxmlformats.org/officeDocument/2006/relationships/notesSlide" Target="/ppt/notesSlides/notesSlide11.xml" Id="R751b5985d7f243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11111"/>
            </a:solidFill>
          </c:spPr>
          <c:dLbls/>
          <c:cat>
            <c:strLit>
              <c:ptCount val="3"/>
              <c:pt idx="0">
                <c:v>Score 2</c:v>
              </c:pt>
              <c:pt idx="1">
                <c:v>Score 1</c:v>
              </c:pt>
              <c:pt idx="2">
                <c:v>Score 0</c:v>
              </c:pt>
            </c:strLit>
          </c:cat>
          <c:val>
            <c:numLit>
              <c:formatCode>General</c:formatCode>
              <c:ptCount val="3"/>
              <c:pt idx="0">
                <c:v>538</c:v>
              </c:pt>
              <c:pt idx="1">
                <c:v>40</c:v>
              </c:pt>
              <c:pt idx="2">
                <c:v>22</c:v>
              </c:pt>
            </c:numLit>
          </c:val>
        </c:ser>
        <c:ser>
          <c:idx val="1"/>
          <c:order val="1"/>
          <c:tx>
            <c:v>Claude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3"/>
              <c:pt idx="0">
                <c:v>Score 2</c:v>
              </c:pt>
              <c:pt idx="1">
                <c:v>Score 1</c:v>
              </c:pt>
              <c:pt idx="2">
                <c:v>Score 0</c:v>
              </c:pt>
            </c:strLit>
          </c:cat>
          <c:val>
            <c:numLit>
              <c:formatCode>General</c:formatCode>
              <c:ptCount val="3"/>
              <c:pt idx="0">
                <c:v>550</c:v>
              </c:pt>
              <c:pt idx="1">
                <c:v>46</c:v>
              </c:pt>
              <c:pt idx="2">
                <c:v>4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CF81E-4108-4DEC-BA53-10A811BC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95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Leveraging LLMs for agent-based normative recommender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C5C7E-105C-41EC-BBFB-A341A84B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A parser-validated dataset and evaluation pipeline for the DJ4ME language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607C5-0D8E-4136-905F-65FA651B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1125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B8BE6-BECC-491B-908E-61EAF875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350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C0386-FD8C-4929-8141-21764623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records per full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FA4C3-9BEA-41BE-9FCB-A081620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650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F0801-CED5-4BA5-9199-4D85BC1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38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formulas validated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4D2A-12A7-4072-9797-9E7DB92C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38B45"/>
                </a:solidFill>
              </a:defRPr>
            </a:pPr>
            <a:r>
              <a:rPr sz="3900" b="1">
                <a:solidFill>
                  <a:srgbClr val="238B45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100B-86DB-4B1E-9256-433DDD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38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parser errors in both full datasets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86029-05FF-4232-A9AD-69B324C7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Progress deck ·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1630-3DCF-4745-B9EC-21871283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754EC-B919-4D83-A14D-9EEA6F3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3202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95D23-E974-4A14-A932-BF18BEB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5B4E4-0D82-41F0-87C1-3F82F130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thesis focuses on one upstream DJ4ME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7C1E3-3378-46A1-B147-E373A9B4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work formalises stakeholder norms before they can be used by avatars, dialogue, explanation, or future conflict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D9D0-5F0A-4F2E-987D-DBBCDF9A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CADA5-C05A-4B7A-9333-09B34483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Natural-language norm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20724-8A53-4E68-8B33-F798CFCD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49068-89FF-490F-9CEE-73CED6D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24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Modal FOL formula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3A14-0780-4287-ABD0-6F0A719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838B1-4C69-4047-85E0-92199D3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24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Parser + 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42EE5-657F-40E4-B30C-21FEFA9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A8484-7E08-4407-B708-B9DB5F0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24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Semantic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34E82-E719-43C4-9FE2-DBC2E724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67F2D-5604-41F4-AA3B-D6AF24A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58769-908A-4E78-91C4-3B04BCBE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76F7E-D1E4-411D-8054-50AC737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8F044-64FC-4AC7-B1BF-B466D84B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41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DJ4ME needs a language interface that can transform informal stakeholder norms into formal avatar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A2DB7-B7FB-409C-9981-EE04CC6C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1A6BE-AB10-42DA-89AE-4FED3E45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941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This thesis tests whether LLM outputs can be constrained by a fixed grammar and checked systematically.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EC686-687A-441F-9511-F454709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768CF-7ACF-43C6-B16F-6141FA9E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941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Conflict detection is treated as downstream use, not the implementation scope of this thesis.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56647-2249-4E81-B599-4EA8F40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B8BFB-EF84-48F2-9E02-2A1DEFCD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8503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06AA5-7E90-4F3E-8741-6161C08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4297D-0578-4621-9A75-A984ABCF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revised design separates norms from background domain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4F32E-81C7-422B-92B0-38751A4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DFEE3-9ED5-4630-B652-932937B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Stakeholder norm 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380E6-0A3A-4BF7-8D00-B587BB19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5E378-0B86-4BDA-86DD-F9BB38CA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User, Food Ministry, Food Industry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56D43-84AC-4944-A10D-6EBB893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5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06D5E-A570-407C-B2D7-B9D04BD4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One natural-language norm per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46CAA-456B-4B64-B9A0-E782197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08713-5FB5-4AF2-A86E-CF4DBA22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Both implication and dyadic formulas are paired for the same norm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D38DD-E624-41B4-AFF8-D3BEABB4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C7DEC-BC0D-4292-A3C8-733FA94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Norm type: obligation, permission, or prohibition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62AF5-AB3A-4544-96FD-740F8AA7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02766-31A6-4810-9086-6320EC1E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Constitutive rules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B2AE5-36C8-424F-8D53-9A35DD83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0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F5CC4-D6F8-4353-96E9-0D29D6AF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Food-domain classifications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79F16-226B-4BBD-8883-60EA4787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8CE20-9AE4-438A-9F79-090D7EAE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Categories become predicates over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6B408-5D04-438C-AEBD-5124087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09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26B48-894B-4E86-9E55-4161391E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814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Reduces repeated specific prohibitions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948DE-FF7E-432D-A895-27AC1B7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862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99D05-F9DD-4DF6-8FD8-F875F1A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Supports later reasoning over broader classes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45AC9-318D-4C12-A113-12E82A63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91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Example: ∀y.shellfishMeal(y)-&gt;nonVegan(y)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18479-DB87-4DF9-B82E-4B07162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B1388-4A75-4C28-A639-F9AEE805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7787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0DD24B-4A8F-4812-85F2-1F4C1E5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D8B10-2F29-47C5-B1E2-34C9B7B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Both LLM-generated datasets now follow the same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3670-0EAE-4016-A257-824D770B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DDDC1-2C29-427B-AB71-38956259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B295F-C511-4A12-9577-92DD72D7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User norms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7187C-3995-473F-8037-0B877996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D614A-DC0A-4DB5-B88A-B65C6F5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Food Ministry norms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6C146-DFC2-4D93-9D62-FA13597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26AC5-0C03-412E-8DD1-793F743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Food Industry norms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9E5F-BE0B-479C-8B62-56589E4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69473-597E-4EA1-A1FE-124C9719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Constitutive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3EB2E-3F52-4C61-9200-BF4CEE0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46453-4BF9-4486-87D5-15DA601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53191-03DA-40CD-A2DB-410BAA8B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05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721F2-0937-403D-B693-FABCDBC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Formulas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366BF-EA02-4165-A765-8BF5032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Prompt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2D237-868D-496A-8141-8D3D571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05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Fresh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E057D-D2C0-446E-9DBC-B2C43CCE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2FF6C-2A7A-4C4B-8DF8-1975F59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31BA1-22EE-4A94-8159-056467E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DDD8A-BE99-46B8-B811-6B6B3DA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62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02804-9238-45EA-9CDD-8B25F41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EBA42-690C-418A-A453-2F4AB1D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62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9EFAB-17D5-448A-8D36-E5F8F05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BD20F-7DAE-46F3-A247-8A1A614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Repository prompts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CE98A-8022-40E7-98B4-698C6672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E741C-2378-448E-B5B0-D786B03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D0AB1-C1CC-418D-B489-559556C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EB2A3-4232-4FF0-9CC0-F8F0745A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Claude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64C61-DA03-4E83-B21F-8A52FFB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4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65E1F-E296-41E0-B514-959CB32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197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69913-4EC6-4903-BA85-2DBE944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CFD6B-241A-4940-B360-810DA66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FFEF95-8EE9-4E68-9D23-FEB5545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244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DAAB8-A70D-41B1-8C8F-F8A3509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Same repository prompts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1CADD-8AB1-4D8D-A50E-2B94E56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FF578-1286-40A9-BE1E-560D9CF5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6E836D-0B60-4161-9DB1-73D7310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43C8F-39B5-4B3B-8537-5042E71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8712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2DB0E-51E3-4C39-A25D-5970869D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2CDA2-5C0A-40BB-8343-BBCC93D8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Grammar validation is the first accuracy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32322-36B8-4A5A-A808-F8E2FC95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It does not prove semantic correctness, but it ensures every formula can enter the formal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87FAE-69A9-4EBB-8DB9-A455BC9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F1E2-8E3A-4CDB-9DAA-566BBCDE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F951E-6C42-4436-B73A-0A7CB07E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D606E-6A68-47A4-9423-47938F5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Formulas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3C354-D17C-43F1-9565-D56C7A0D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B878-A758-48F1-B4ED-BE3B7585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Warnings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AEBA9-B357-4F7B-82BA-6A2A893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F0DE2-348C-4E53-983F-56814773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Baseline revised full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61AC0-4AA1-4C0C-896E-2C9B61B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95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903FB-1228-4583-8682-929386DB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ED696-E2B0-425A-B0D8-85F1116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D91C2-D553-49C2-8ADF-F384B7A0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BDFB5-CD72-418C-B3F3-5FA7DBB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162E4-008D-4473-BF1D-8BED24C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C4AFE-9166-4C88-B0BE-A9647A2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CCBF-D5C6-4F12-8A72-154B58F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2FB3D-1D2A-4D3F-9C8D-BBA7D25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E6822-DC9F-4C28-B66F-9773C42D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Claude full 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2291F-24E5-46F6-9252-7FD01D2B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6E814-6A82-4985-9781-F5C82A90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1DA8B-E0A7-4C54-AFC1-53BE890E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89756-91B5-467E-8046-EB756600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4A19B-6451-45EF-9580-0EA67189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2E370-5E52-40B7-9ED3-5E04B97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E5E4E-0707-4BF3-AE6C-9BF14E4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205D0-E1DF-4099-928B-944C421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46F1B-C09C-40DA-9C52-48B0129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E35B7-3465-42E6-B534-1069F9B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Validation checks include schema, parser acceptance, paired formula format, recommendation arity, uniqueness, and avoidance of old category-as-constant patterns.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F0E65-9917-48F0-9582-F48DEBF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42B23-6FAA-4DB5-BF68-D3807EE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1963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F4CEF-E6EA-423E-8FC9-E81A314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5B52E-4019-45DB-8091-73BD0AB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Round-trip evaluation checks whether formulas still mean the same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D1FC-5B2A-4735-A9B9-EA036E2B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Formula-to-natural-language backtranslation gives a second view of semantic preservation.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57250" y="238125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a9da8a5c1546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D850C-2776-45F7-B6A6-4369335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3162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4D9CB-425D-41D3-8729-D70F332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Score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D6D84-5403-42EA-9E75-4348DF2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042F7-36E0-459D-B4E2-631F47D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2: meaning preserved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B4C6D-9659-4888-96B1-9A26AFB7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909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C385-7421-4007-9B56-2D3ED30A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1: partially preserved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E790E-7895-4A3C-998D-A15B685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719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ABB4E-4E4F-4EE0-82E4-B8449A3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0: likely semantic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C2985-B6EF-4EF3-AB2C-BB4C286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automatic scores are useful triage, not a replacement for human judgement.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65587-40D8-44ED-8970-98C32D7C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37252-815F-4DAB-BDB4-B3ECD146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5514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324DC-9438-489B-AFD9-CB905B7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F28CA-BB07-47F9-B38C-953A18A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Human review shows where the automatic scorer needs caution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3FFB6-1CAD-4DEA-9995-B7A719B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7188B-D907-452C-904C-2DE1C16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112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DE1A-5015-4A23-AF07-8BC0AB4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baseline round-trip rows reviewed by a human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34F27-F83A-407A-BA9A-46364431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507F9-7D54-4828-83E6-BD65A72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05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38B45"/>
                </a:solidFill>
              </a:defRPr>
            </a:pPr>
            <a:r>
              <a:rPr sz="3900" b="1">
                <a:solidFill>
                  <a:srgbClr val="238B45"/>
                </a:solidFill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D82A7-1F4D-42F8-9BEA-0F69494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rows judged as score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CCBE-6488-4CBC-B95D-C26DD1D0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162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14384-3375-4FB7-BC47-B55517C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B35"/>
                </a:solidFill>
              </a:defRPr>
            </a:pPr>
            <a:r>
              <a:rPr sz="3900" b="1">
                <a:solidFill>
                  <a:srgbClr val="FF6B35"/>
                </a:solidFill>
              </a:rPr>
              <a:t>42.9%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354B7-958E-4C4C-AA3C-27C47D6A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exact auto-human agreement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7476F-9662-49E0-9A96-072D57B7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0B3BF-1876-4462-B504-4F879B7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Human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C90E8-76ED-4379-9C15-DFA6426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76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174DD-126C-44CF-8F5B-6CDE3AEA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F1D26-66BF-46AE-8BE4-D36A74C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2: preserved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ADF40-3A0C-4F92-B278-9FF0A9B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81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C410-EC4A-41DC-98E4-EAE9FAA7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DA549-A62F-4F77-819F-5610BBF3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107D8-E95B-442D-B0D5-00F56F0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76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1: partial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2D892-D6B3-4993-A885-E17ACAF7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816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FF642-9EC1-4586-9664-47C6690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76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7FB95-CD27-416B-89D7-50BACC2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0D2FC-1E5F-4240-8C1C-477A66F8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7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0: mismatch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3FE2F-49DB-430A-B74E-5DF9663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816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9C4D3-EE40-45CA-BC9E-EEA0855E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76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4A70B6-205B-4A6B-9F26-262BA9F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Interpretation: the pipeline is strong enough to identify candidates for review, but final semantic accuracy still needs human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CD3C1A-90A2-4105-B166-A3A3C73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5E52E-7123-48B1-887C-587A82D5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3830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96E72-7F13-4E81-A768-D9EAEC5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CEAAE-BCAC-40BF-B827-88854506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two LLMs differ most in vocabulary breadth and stakeholder emphasis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A6046-126B-4180-B90D-8CC1A5AF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23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AAB1F-C6B7-41C1-B9B0-9707EF1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Stakeholder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E834B-7A12-459B-A7CE-7434FC2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Baseline predicates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9009B-92A7-446A-B334-AE55486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Claude predicates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00E5A-4446-49A0-933F-DBB7207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Shared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2FD9F-FD6C-4415-AAFF-10A4481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Exact formula overlap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9EACB-6AA6-49E6-AAA9-F378106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7FB98-204C-4A96-89FA-35E2AC0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95EE8-1109-4183-B894-A288FC3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400A-6185-449A-85FA-197DDC7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D96D7-4498-4EA9-8B77-73239DD0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6CB95-902D-465E-A83A-63EBAA21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F6096-65FC-4CDA-8F59-1DE26C6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A1041-790C-400B-A336-D11A24C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65B8B-3435-42D9-8D30-C992BA3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10E30-CF68-4F2D-BC0C-DC06ADD2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 / 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92417-9C6C-4C5A-A349-A0149C2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8B7CD-8328-4AB4-9C42-7D95FD58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Food Ministry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EC7D1-C312-4547-89F0-3D71CEB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FD99A-9DDD-481D-944A-5A821F78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935AA-901B-4C7A-93AF-6EC6A4D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1E696-1BF0-45BF-AD9A-D0E9CB0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AFC5E-19F1-4787-8F91-B77922ED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EDCF4-F375-43F7-BFCD-1FD0070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4D3D3-E53B-4408-9830-F4D3406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82FD9-16CF-4A97-8F82-901B5BC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14 / 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07B83-E3E9-499D-8C0C-C4C7F82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896E0-2634-4EDE-BD97-42F9B05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Food Industry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BB094-5353-4F01-ACDA-3D9D242E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066258-F28E-48C3-8458-36F6176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81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11153-6E5F-4072-8CE0-7340FB6A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FD100-808D-40C9-B84A-EC48C581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814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E4F54C-D8A0-40F8-BA18-FA83A0B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8CB4F-7F26-47FE-B1BB-DFE2F098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E68CA2-914C-496E-BDD4-E73E9D86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26E01F-09F7-43F2-ABE8-2C4ED29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81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 / 200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6161CA-FC9E-4AB7-8F13-FA2723D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96C4BC-99A9-4AA6-9B0F-4D19128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Constitutive rules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8B9CA5-C063-4D86-B430-5443D4CF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43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06F6A6-DB36-4258-A16C-88AF21B8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38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F4A58D-FADD-40D0-8CCA-46F287CB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966AB2-AB40-4AC6-A794-8C0D2A84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DD478F-8B7D-4A61-9FB0-A662DEB2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00E828-7E35-4216-8441-29D8104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FFA06-C7D9-4106-B887-6E2BBFB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7AD090-DD37-46EE-B003-46E99003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 / 50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4D1906-001F-4DFD-9322-09F0FD8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AA61C3-0430-4A25-8CB5-47E04AB0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This is not a failure of reproducibility. It shows that fixed prompts and fresh chats can reproduce the task structure and grammar compliance, while content choices still vary across models.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8C22CE-616D-45AC-A30A-68DFEC48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5CF5DD-B2C5-4CD6-8AFE-66EE8569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2693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8BB22-D47B-4AA2-A291-7D5E83F0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A0842-857A-488B-996B-0309F02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current results support three thesis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F9AC7-52FE-43B3-B787-D41F894C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3F149-52BC-4A69-A071-C0A97CED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Claim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0FF61-9966-4DC6-B4BA-A1AB2CC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fixed grammar can make LLM norm formalisation outputs parser-valid across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FE73A-ACCE-4FDD-8F67-EF42E8A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BFC1E-89A2-42F1-A11B-795B99A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Claim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02D71-C439-4082-AF9D-25C6663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Paired implication and dyadic formulas allow representation choices to be compared without mixing rival semantics as unrelated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09A5F-CCF8-4417-9F3D-A73FEDE9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68EDF-4794-46C9-8E17-61CAD713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Claim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4758E-1597-4F87-8725-3ED8596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Constitutive rules improve dataset design by moving domain classifications out of repetitive stakeholder norms.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F093B-146B-4791-A045-9BE5129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7EE48-FA66-4093-864C-CE371CC5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4063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F9A5E-9753-42DB-9E97-D4393DF3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BE889-A4FE-4E28-B763-DDB24A2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next step is to freeze the pipeline and write the thesis around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B2CAF-A012-4A66-A860-29A5F58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BBA26-9642-476D-BE35-D2834F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02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Write methodology: prompts, fixed grammar, dataset schema, validation, AST generation, and round-trip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248E8-4F52-4B74-9D3C-17C679A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87322-C4CC-45EF-9EB4-34F0B66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902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Write results: baseline vs Claude validation, round-trip scores, human review, vocabulary differences, and constitutive-rule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6F26E-6E24-41C8-A454-27DD691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989C0-4B5A-4000-BEB7-5D6F693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02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Ask for human review of a Claude round-trip sample if time allows.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48AE2-2956-4F61-8591-06F6298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D1FB-3EEA-48DA-B7E0-4C0C03FB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902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Frame conflict detection as future DJ4ME work unless supervisors request an implementation.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F81FD-E98E-4B11-A9D6-EB9A471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492C9-B0E4-4FE1-9BB7-748FC4D1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Immediate writing target: Methodology and Evaluation chapters, using the generated CSV, AST, validation, and comparison files as reproducibility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BE72B-B8F6-4004-88A2-92CDB0E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EEC-BAFC-4226-B734-329C309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533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214D1-8231-4B6C-A539-DA059A00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THESIS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FE45A-B055-4E2B-A299-1D2AD5F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Implication and dyadic formulas behave similarly in round-trip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FDD9B-7A00-457C-A28F-BE188B58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paired comparison now tests both formalisation strategies on the same natural-language norms.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815A-7978-4BB3-A75D-A00BB5AA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866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E4479-F9E6-4164-AF9F-98910AA9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53AB5-B3A3-4658-90C2-DEC66209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Formula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6D7B5-B547-4720-B92B-EA673FD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Valid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B8714-3082-4263-97B0-369979CB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Score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73215-EA51-410C-A605-0BD0C016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Score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537B3-2EFC-4F20-835B-0FCDBA4A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Score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E6337-C691-4B23-B5A1-5FD77F22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Avg AST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525B9-57CD-417B-AD6E-09424A2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539FD-AD00-4D9B-B13F-28627E2F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CB1B4-5A3F-4755-8E7B-19FBC40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479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4ECF6-6E4C-4FE4-8CB2-5C7AE15D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86E6C-96D8-4B05-90D9-AD86304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FE308-A0F8-423B-8477-E98866D6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300 / 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5DF91-B6B4-44D9-8D38-364829C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4E6FD-05F4-4B31-BE0E-0EFB2B61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43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BCA77-8012-4E93-A994-FC1D3316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47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DEC8C-CD17-44D0-8A2F-4E547347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3C22D-6F22-49C3-9DB3-3AACDFFF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1F6F2-67B6-4DC7-9CAD-627B209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D204D-62C2-4E4F-8C67-874F6202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1E352-EC6C-402C-AD15-4E9EC7D0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8.52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CFF08-9A87-430F-B36A-7B7239F4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AB4C8-300A-48A5-85CE-C05A05D8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10957-32C4-4879-B03D-76CD2114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861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C94F4-3A85-4CCA-BC3C-A1EAFA23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81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Dyadic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2E514-3AD6-4CA8-BB45-5F937D7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17E23F-364D-4A63-B5D7-846CE74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300 / 300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72BE22-EB1C-45F1-BBF4-9AC5ACD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861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510E4-B12A-4192-A55E-44C6AD8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7DC731-9704-4D58-BD67-C683B27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7D3300-2359-408A-A8E4-A8FC62D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FED62-23F5-412C-AE3F-2E187E6C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E39620-C880-4FC9-8EB4-D454FD6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98AF28-8924-4B05-B402-45AFFC0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A41587-2BA1-44F0-B134-B11FB26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7.52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3F4072-52E4-4EF6-B29E-B0EE423B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67DD3-F687-47FC-ACCD-8EF1882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Claude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88A79-7115-4B9F-BD32-4230D4D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EB3F5-0C32-4657-9286-996A7784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Implication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562A49-D301-407C-AB3E-B68494C6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A5ACBE-E9FF-4A00-96C6-712FFD2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300 / 300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F78F0A-F844-42DC-97A0-7CE37BD9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FF4C37-81F7-42DC-BF6C-91F1FEE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18045-4457-4313-9783-B86BB0C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1503A9-001D-4084-9E63-1462337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BC1E23-D13C-47E5-8E87-11F1C12F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BA2B24-CF72-4005-925A-8319010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5B8FC6-67FA-496B-A119-646FD64E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8F55CF-AC6A-4E1D-B368-28311F6B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8.56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0E7DC2-964A-4AEE-A795-ED052BEE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5E6195-C590-4FD7-9F5D-AE5FC51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Claude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485C57-4485-4B3F-8858-09E53D1B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F5B1E0-4547-4DB1-8806-50DCE73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57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Dyadic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0AF2C4-EC6E-44FA-83FC-044F204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57AE18-711C-46D1-86BD-96CB79B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576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300 / 300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60A660-F4DD-479A-B392-9E2D24D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624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31E537-907A-438E-9A99-A26759D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57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7261DE-8438-49A5-A45F-D340E07E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F946A8-6694-4C1F-ABE6-88EAB05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DAB81F-2433-40E4-AF2E-09B1FA1F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624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10734D-0051-4143-93D4-13C9D5E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57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E974B6-3466-4DF7-83F5-5E90A07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ECF594-E40C-4352-B2D7-5C515D29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7.56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6E5C92-7F4C-4EA7-8BE1-34BDE69A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4AB069-8AE2-4CFE-A1F3-32D43AB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Result: automatic round-trip scores are identical within each source, but implication formulas produce slightly larger ASTs because the condition is represented through an explicit implication node.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36E8CC-94E8-4B43-8117-C22E28E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3B34F3-276C-4EBA-8D6D-637B453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6488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2026-07-06T03:15:49.5630000Z</dcterms:created>
  <dcterms:modified xsi:type="dcterms:W3CDTF">2026-07-06T03:15:49.5630000Z</dcterms:modified>
</coreProperties>
</file>